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Calibri" panose="020F0502020204030204"/>
      <p:regular r:id="rId15"/>
      <p:bold r:id="rId16"/>
      <p:italic r:id="rId17"/>
      <p:boldItalic r:id="rId18"/>
    </p:embeddedFont>
    <p:embeddedFont>
      <p:font typeface="Work Sans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98"/>
        <p:guide pos="284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6" name="Google Shape;86;p1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1:notes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0" name="Google Shape;90;p1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0" name="Google Shape;100;p2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2:notes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2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4" name="Google Shape;104;p2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9" name="Google Shape;169;p3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3:notes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3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3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3" name="Google Shape;173;p3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31" name="Google Shape;231;p4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4:notes"/>
          <p:cNvSpPr/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4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Visdualizar inventario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 automático del stock disponible</a:t>
            </a:r>
            <a:endParaRPr lang="en-US"/>
          </a:p>
        </p:txBody>
      </p:sp>
      <p:sp>
        <p:nvSpPr>
          <p:cNvPr id="234" name="Google Shape;234;p4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35" name="Google Shape;235;p4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02" name="Google Shape;302;p5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3" name="Google Shape;303;p5:notes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5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5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06" name="Google Shape;306;p5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74" name="Google Shape;374;p6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5" name="Google Shape;375;p6:notes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6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7" name="Google Shape;377;p6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78" name="Google Shape;378;p6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22" name="Google Shape;422;p7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3" name="Google Shape;423;p7:notes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7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5" name="Google Shape;425;p7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26" name="Google Shape;426;p7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:notes"/>
          <p:cNvSpPr txBox="1"/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65" name="Google Shape;465;p8:notes"/>
          <p:cNvSpPr txBox="1"/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6" name="Google Shape;466;p8:notes"/>
          <p:cNvSpPr/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8:notes"/>
          <p:cNvSpPr txBox="1"/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8" name="Google Shape;468;p8:notes"/>
          <p:cNvSpPr txBox="1"/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69" name="Google Shape;469;p8:notes"/>
          <p:cNvSpPr txBox="1"/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5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5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Relationship Id="rId3" Type="http://schemas.openxmlformats.org/officeDocument/2006/relationships/image" Target="../media/image24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8.png"/><Relationship Id="rId3" Type="http://schemas.openxmlformats.org/officeDocument/2006/relationships/image" Target="../media/image21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5311361" y="1582817"/>
            <a:ext cx="1384649" cy="1363123"/>
          </a:xfrm>
          <a:custGeom>
            <a:avLst/>
            <a:gdLst/>
            <a:ahLst/>
            <a:cxnLst/>
            <a:rect l="l" t="t" r="r" b="b"/>
            <a:pathLst>
              <a:path w="1846199" h="1817497" extrusionOk="0">
                <a:moveTo>
                  <a:pt x="0" y="0"/>
                </a:moveTo>
                <a:lnTo>
                  <a:pt x="1846199" y="0"/>
                </a:lnTo>
                <a:lnTo>
                  <a:pt x="1846199" y="1817497"/>
                </a:lnTo>
                <a:lnTo>
                  <a:pt x="0" y="1817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l="-344" r="-3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386350" y="1416409"/>
            <a:ext cx="14190000" cy="21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25" b="1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Nurse</a:t>
            </a:r>
            <a:endParaRPr sz="5725" b="1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25" b="1">
                <a:solidFill>
                  <a:srgbClr val="404040"/>
                </a:solidFill>
              </a:rPr>
              <a:t>TU ASISTENTE DE CHEQUEO</a:t>
            </a:r>
            <a:endParaRPr sz="5725" b="1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87826" y="426244"/>
            <a:ext cx="4242587" cy="24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Clasificación de la información: Pública</a:t>
            </a:r>
            <a:endParaRPr sz="1500" b="1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714425" y="5497121"/>
            <a:ext cx="669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Juan Esteban Garcia Quintero</a:t>
            </a:r>
            <a:endParaRPr sz="3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286150" y="3938025"/>
            <a:ext cx="7409850" cy="48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811520" y="1179576"/>
            <a:ext cx="16184700" cy="1165955"/>
            <a:chOff x="0" y="0"/>
            <a:chExt cx="21579601" cy="1554606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21579601" cy="1554606"/>
            </a:xfrm>
            <a:custGeom>
              <a:avLst/>
              <a:gdLst/>
              <a:ahLst/>
              <a:cxnLst/>
              <a:rect l="l" t="t" r="r" b="b"/>
              <a:pathLst>
                <a:path w="21579601" h="1554606" extrusionOk="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6"/>
                  </a:lnTo>
                  <a:lnTo>
                    <a:pt x="0" y="1554606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20475" b="-22047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0"/>
              <a:ext cx="21579599" cy="15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>
                  <a:solidFill>
                    <a:srgbClr val="38AA00"/>
                  </a:solidFill>
                  <a:latin typeface="Work Sans"/>
                  <a:ea typeface="Work Sans"/>
                  <a:cs typeface="Work Sans"/>
                  <a:sym typeface="Work Sans"/>
                </a:rPr>
                <a:t>¿Qué es Nurse?</a:t>
              </a:r>
              <a:endParaRPr sz="5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811520" y="2528030"/>
            <a:ext cx="8915400" cy="1645800"/>
            <a:chOff x="0" y="-85725"/>
            <a:chExt cx="11887200" cy="2194399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1887200" cy="2108668"/>
            </a:xfrm>
            <a:custGeom>
              <a:avLst/>
              <a:gdLst/>
              <a:ahLst/>
              <a:cxnLst/>
              <a:rect l="l" t="t" r="r" b="b"/>
              <a:pathLst>
                <a:path w="11887200" h="2108668" extrusionOk="0">
                  <a:moveTo>
                    <a:pt x="0" y="0"/>
                  </a:moveTo>
                  <a:lnTo>
                    <a:pt x="11887200" y="0"/>
                  </a:lnTo>
                  <a:lnTo>
                    <a:pt x="11887200" y="2108668"/>
                  </a:lnTo>
                  <a:lnTo>
                    <a:pt x="0" y="2108668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59976" b="-5970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85725"/>
              <a:ext cx="11887200" cy="2194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7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Plataforma web para la asistencia domiciliaria de enfermeras/os para solucionar problemas de salud o visitas de revisión, formas de tratamiento y medicamentos.</a:t>
              </a:r>
              <a:endParaRPr sz="217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7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811520" y="4202525"/>
            <a:ext cx="6858000" cy="515869"/>
            <a:chOff x="0" y="-47625"/>
            <a:chExt cx="9144000" cy="687825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9144000" cy="640200"/>
            </a:xfrm>
            <a:custGeom>
              <a:avLst/>
              <a:gdLst/>
              <a:ahLst/>
              <a:cxnLst/>
              <a:rect l="l" t="t" r="r" b="b"/>
              <a:pathLst>
                <a:path w="9144000" h="640200" extrusionOk="0">
                  <a:moveTo>
                    <a:pt x="0" y="0"/>
                  </a:moveTo>
                  <a:lnTo>
                    <a:pt x="9144000" y="0"/>
                  </a:lnTo>
                  <a:lnTo>
                    <a:pt x="91440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28303" b="-22830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-47625"/>
              <a:ext cx="9144000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El sistema permite:</a:t>
              </a:r>
              <a:endParaRPr sz="21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6" name="Google Shape;116;p2"/>
          <p:cNvSpPr/>
          <p:nvPr/>
        </p:nvSpPr>
        <p:spPr>
          <a:xfrm>
            <a:off x="811520" y="4855464"/>
            <a:ext cx="521113" cy="521113"/>
          </a:xfrm>
          <a:custGeom>
            <a:avLst/>
            <a:gdLst/>
            <a:ahLst/>
            <a:cxnLst/>
            <a:rect l="l" t="t" r="r" b="b"/>
            <a:pathLst>
              <a:path w="694817" h="694817" extrusionOk="0">
                <a:moveTo>
                  <a:pt x="0" y="347345"/>
                </a:moveTo>
                <a:cubicBezTo>
                  <a:pt x="0" y="155575"/>
                  <a:pt x="155575" y="0"/>
                  <a:pt x="347345" y="0"/>
                </a:cubicBezTo>
                <a:cubicBezTo>
                  <a:pt x="539115" y="0"/>
                  <a:pt x="694817" y="155575"/>
                  <a:pt x="694817" y="347345"/>
                </a:cubicBezTo>
                <a:cubicBezTo>
                  <a:pt x="694817" y="539115"/>
                  <a:pt x="539242" y="694817"/>
                  <a:pt x="347345" y="694817"/>
                </a:cubicBezTo>
                <a:cubicBezTo>
                  <a:pt x="155448" y="694817"/>
                  <a:pt x="0" y="539242"/>
                  <a:pt x="0" y="34734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2" descr="icons/window.png"/>
          <p:cNvSpPr/>
          <p:nvPr/>
        </p:nvSpPr>
        <p:spPr>
          <a:xfrm>
            <a:off x="947033" y="4990976"/>
            <a:ext cx="250222" cy="250222"/>
          </a:xfrm>
          <a:custGeom>
            <a:avLst/>
            <a:gdLst/>
            <a:ahLst/>
            <a:cxnLst/>
            <a:rect l="l" t="t" r="r" b="b"/>
            <a:pathLst>
              <a:path w="333629" h="333629" extrusionOk="0">
                <a:moveTo>
                  <a:pt x="0" y="0"/>
                </a:moveTo>
                <a:lnTo>
                  <a:pt x="333629" y="0"/>
                </a:lnTo>
                <a:lnTo>
                  <a:pt x="333629" y="333629"/>
                </a:lnTo>
                <a:lnTo>
                  <a:pt x="0" y="333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15" b="1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>
            <a:off x="1565900" y="4814316"/>
            <a:ext cx="7955280" cy="603453"/>
            <a:chOff x="0" y="0"/>
            <a:chExt cx="10607040" cy="804604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0606800" cy="804604"/>
            </a:xfrm>
            <a:custGeom>
              <a:avLst/>
              <a:gdLst/>
              <a:ahLst/>
              <a:cxnLst/>
              <a:rect l="l" t="t" r="r" b="b"/>
              <a:pathLst>
                <a:path w="10606800" h="804604" extrusionOk="0">
                  <a:moveTo>
                    <a:pt x="0" y="0"/>
                  </a:moveTo>
                  <a:lnTo>
                    <a:pt x="10606800" y="0"/>
                  </a:lnTo>
                  <a:lnTo>
                    <a:pt x="10606800" y="804604"/>
                  </a:lnTo>
                  <a:lnTo>
                    <a:pt x="0" y="804604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6858" b="-20685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117687"/>
              <a:ext cx="10607040" cy="686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Agendar las citas, tratamientos, medicamentos y pacientes.</a:t>
              </a:r>
              <a:endParaRPr sz="187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7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811520" y="5623560"/>
            <a:ext cx="521113" cy="521113"/>
          </a:xfrm>
          <a:custGeom>
            <a:avLst/>
            <a:gdLst/>
            <a:ahLst/>
            <a:cxnLst/>
            <a:rect l="l" t="t" r="r" b="b"/>
            <a:pathLst>
              <a:path w="694817" h="694817" extrusionOk="0">
                <a:moveTo>
                  <a:pt x="0" y="347345"/>
                </a:moveTo>
                <a:cubicBezTo>
                  <a:pt x="0" y="155575"/>
                  <a:pt x="155575" y="0"/>
                  <a:pt x="347345" y="0"/>
                </a:cubicBezTo>
                <a:cubicBezTo>
                  <a:pt x="539115" y="0"/>
                  <a:pt x="694817" y="155575"/>
                  <a:pt x="694817" y="347345"/>
                </a:cubicBezTo>
                <a:cubicBezTo>
                  <a:pt x="694817" y="539115"/>
                  <a:pt x="539242" y="694817"/>
                  <a:pt x="347345" y="694817"/>
                </a:cubicBezTo>
                <a:cubicBezTo>
                  <a:pt x="155448" y="694817"/>
                  <a:pt x="0" y="539242"/>
                  <a:pt x="0" y="34734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2" descr="icons/filter.png"/>
          <p:cNvSpPr/>
          <p:nvPr/>
        </p:nvSpPr>
        <p:spPr>
          <a:xfrm>
            <a:off x="947033" y="5759072"/>
            <a:ext cx="250222" cy="250222"/>
          </a:xfrm>
          <a:custGeom>
            <a:avLst/>
            <a:gdLst/>
            <a:ahLst/>
            <a:cxnLst/>
            <a:rect l="l" t="t" r="r" b="b"/>
            <a:pathLst>
              <a:path w="333629" h="333629" extrusionOk="0">
                <a:moveTo>
                  <a:pt x="0" y="0"/>
                </a:moveTo>
                <a:lnTo>
                  <a:pt x="333629" y="0"/>
                </a:lnTo>
                <a:lnTo>
                  <a:pt x="333629" y="333629"/>
                </a:lnTo>
                <a:lnTo>
                  <a:pt x="0" y="333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r="15" b="1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23" name="Google Shape;123;p2"/>
          <p:cNvGrpSpPr/>
          <p:nvPr/>
        </p:nvGrpSpPr>
        <p:grpSpPr>
          <a:xfrm>
            <a:off x="1565900" y="5553837"/>
            <a:ext cx="7955100" cy="632028"/>
            <a:chOff x="0" y="-38100"/>
            <a:chExt cx="10606800" cy="842704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0606800" cy="804604"/>
            </a:xfrm>
            <a:custGeom>
              <a:avLst/>
              <a:gdLst/>
              <a:ahLst/>
              <a:cxnLst/>
              <a:rect l="l" t="t" r="r" b="b"/>
              <a:pathLst>
                <a:path w="10606800" h="804604" extrusionOk="0">
                  <a:moveTo>
                    <a:pt x="0" y="0"/>
                  </a:moveTo>
                  <a:lnTo>
                    <a:pt x="10606800" y="0"/>
                  </a:lnTo>
                  <a:lnTo>
                    <a:pt x="10606800" y="804604"/>
                  </a:lnTo>
                  <a:lnTo>
                    <a:pt x="0" y="804604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6858" b="-20685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38100"/>
              <a:ext cx="10606799" cy="84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Buscar y verificar la información del paciente con lo requerido.</a:t>
              </a:r>
              <a:endParaRPr sz="187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7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9" name="Google Shape;129;p2"/>
          <p:cNvSpPr/>
          <p:nvPr/>
        </p:nvSpPr>
        <p:spPr>
          <a:xfrm>
            <a:off x="1565910" y="6386830"/>
            <a:ext cx="7955280" cy="603250"/>
          </a:xfrm>
          <a:custGeom>
            <a:avLst/>
            <a:gdLst/>
            <a:ahLst/>
            <a:cxnLst/>
            <a:rect l="l" t="t" r="r" b="b"/>
            <a:pathLst>
              <a:path w="10606800" h="804604" extrusionOk="0">
                <a:moveTo>
                  <a:pt x="0" y="0"/>
                </a:moveTo>
                <a:lnTo>
                  <a:pt x="10606800" y="0"/>
                </a:lnTo>
                <a:lnTo>
                  <a:pt x="10606800" y="804604"/>
                </a:lnTo>
                <a:lnTo>
                  <a:pt x="0" y="804604"/>
                </a:lnTo>
                <a:close/>
              </a:path>
            </a:pathLst>
          </a:custGeom>
          <a:blipFill rotWithShape="1">
            <a:blip r:embed="rId2">
              <a:alphaModFix amt="0"/>
            </a:blip>
            <a:stretch>
              <a:fillRect t="-206858" b="-2068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0344140" y="2592324"/>
            <a:ext cx="7132511" cy="6926389"/>
          </a:xfrm>
          <a:custGeom>
            <a:avLst/>
            <a:gdLst/>
            <a:ahLst/>
            <a:cxnLst/>
            <a:rect l="l" t="t" r="r" b="b"/>
            <a:pathLst>
              <a:path w="9510014" h="9235186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9363710" y="0"/>
                </a:lnTo>
                <a:cubicBezTo>
                  <a:pt x="9444482" y="0"/>
                  <a:pt x="9510014" y="65532"/>
                  <a:pt x="9510014" y="146304"/>
                </a:cubicBezTo>
                <a:lnTo>
                  <a:pt x="9510014" y="9088882"/>
                </a:lnTo>
                <a:cubicBezTo>
                  <a:pt x="9510014" y="9169653"/>
                  <a:pt x="9444482" y="9235186"/>
                  <a:pt x="9363710" y="9235186"/>
                </a:cubicBezTo>
                <a:lnTo>
                  <a:pt x="146304" y="9235186"/>
                </a:lnTo>
                <a:cubicBezTo>
                  <a:pt x="65532" y="9235186"/>
                  <a:pt x="0" y="9169654"/>
                  <a:pt x="0" y="9088882"/>
                </a:cubicBezTo>
                <a:close/>
              </a:path>
            </a:pathLst>
          </a:custGeom>
          <a:solidFill>
            <a:srgbClr val="00304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10824200" y="2906649"/>
            <a:ext cx="6172200" cy="508726"/>
            <a:chOff x="0" y="-38100"/>
            <a:chExt cx="8229600" cy="67830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8229600" cy="640200"/>
            </a:xfrm>
            <a:custGeom>
              <a:avLst/>
              <a:gdLst/>
              <a:ahLst/>
              <a:cxnLst/>
              <a:rect l="l" t="t" r="r" b="b"/>
              <a:pathLst>
                <a:path w="8229600" h="640200" extrusionOk="0">
                  <a:moveTo>
                    <a:pt x="0" y="0"/>
                  </a:moveTo>
                  <a:lnTo>
                    <a:pt x="8229600" y="0"/>
                  </a:lnTo>
                  <a:lnTo>
                    <a:pt x="82296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0476" b="-20047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38100"/>
              <a:ext cx="8229600" cy="678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DC3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STACK PRINCIPAL</a:t>
              </a:r>
              <a:endParaRPr sz="1800" b="1">
                <a:solidFill>
                  <a:srgbClr val="FDC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10824200" y="3621024"/>
            <a:ext cx="754189" cy="754189"/>
          </a:xfrm>
          <a:custGeom>
            <a:avLst/>
            <a:gdLst/>
            <a:ahLst/>
            <a:cxnLst/>
            <a:rect l="l" t="t" r="r" b="b"/>
            <a:pathLst>
              <a:path w="1005586" h="1005586" extrusionOk="0">
                <a:moveTo>
                  <a:pt x="0" y="502793"/>
                </a:moveTo>
                <a:cubicBezTo>
                  <a:pt x="0" y="225171"/>
                  <a:pt x="225171" y="0"/>
                  <a:pt x="502793" y="0"/>
                </a:cubicBezTo>
                <a:cubicBezTo>
                  <a:pt x="780415" y="0"/>
                  <a:pt x="1005586" y="225171"/>
                  <a:pt x="1005586" y="502793"/>
                </a:cubicBezTo>
                <a:cubicBezTo>
                  <a:pt x="1005586" y="780415"/>
                  <a:pt x="780542" y="1005586"/>
                  <a:pt x="502793" y="1005586"/>
                </a:cubicBezTo>
                <a:cubicBezTo>
                  <a:pt x="225044" y="1005586"/>
                  <a:pt x="0" y="780542"/>
                  <a:pt x="0" y="502793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2" descr="icons/code.png"/>
          <p:cNvSpPr/>
          <p:nvPr/>
        </p:nvSpPr>
        <p:spPr>
          <a:xfrm>
            <a:off x="11020339" y="3817153"/>
            <a:ext cx="362140" cy="362140"/>
          </a:xfrm>
          <a:custGeom>
            <a:avLst/>
            <a:gdLst/>
            <a:ahLst/>
            <a:cxnLst/>
            <a:rect l="l" t="t" r="r" b="b"/>
            <a:pathLst>
              <a:path w="482854" h="482854" extrusionOk="0">
                <a:moveTo>
                  <a:pt x="0" y="0"/>
                </a:moveTo>
                <a:lnTo>
                  <a:pt x="482854" y="0"/>
                </a:lnTo>
                <a:lnTo>
                  <a:pt x="482854" y="482854"/>
                </a:lnTo>
                <a:lnTo>
                  <a:pt x="0" y="482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r="10" b="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37" name="Google Shape;137;p2"/>
          <p:cNvGrpSpPr/>
          <p:nvPr/>
        </p:nvGrpSpPr>
        <p:grpSpPr>
          <a:xfrm>
            <a:off x="11852900" y="3585305"/>
            <a:ext cx="5349154" cy="447018"/>
            <a:chOff x="0" y="-47625"/>
            <a:chExt cx="7132206" cy="596025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Frontend</a:t>
              </a:r>
              <a:endParaRPr sz="1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11852900" y="3997357"/>
            <a:ext cx="5349154" cy="432732"/>
            <a:chOff x="0" y="-28575"/>
            <a:chExt cx="7132206" cy="576976"/>
          </a:xfrm>
        </p:grpSpPr>
        <p:sp>
          <p:nvSpPr>
            <p:cNvPr id="141" name="Google Shape;141;p2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0" y="-28575"/>
              <a:ext cx="7132206" cy="576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" sz="1650">
                  <a:solidFill>
                    <a:srgbClr val="B9CBD6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java, jsp y servlet</a:t>
              </a:r>
              <a:endParaRPr lang="" sz="1650">
                <a:solidFill>
                  <a:srgbClr val="B9CB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3" name="Google Shape;143;p2"/>
          <p:cNvSpPr/>
          <p:nvPr/>
        </p:nvSpPr>
        <p:spPr>
          <a:xfrm>
            <a:off x="10824200" y="4800590"/>
            <a:ext cx="754189" cy="754189"/>
          </a:xfrm>
          <a:custGeom>
            <a:avLst/>
            <a:gdLst/>
            <a:ahLst/>
            <a:cxnLst/>
            <a:rect l="l" t="t" r="r" b="b"/>
            <a:pathLst>
              <a:path w="1005586" h="1005586" extrusionOk="0">
                <a:moveTo>
                  <a:pt x="0" y="502793"/>
                </a:moveTo>
                <a:cubicBezTo>
                  <a:pt x="0" y="225171"/>
                  <a:pt x="225171" y="0"/>
                  <a:pt x="502793" y="0"/>
                </a:cubicBezTo>
                <a:cubicBezTo>
                  <a:pt x="780415" y="0"/>
                  <a:pt x="1005586" y="225171"/>
                  <a:pt x="1005586" y="502793"/>
                </a:cubicBezTo>
                <a:cubicBezTo>
                  <a:pt x="1005586" y="780415"/>
                  <a:pt x="780542" y="1005586"/>
                  <a:pt x="502793" y="1005586"/>
                </a:cubicBezTo>
                <a:cubicBezTo>
                  <a:pt x="225044" y="1005586"/>
                  <a:pt x="0" y="780542"/>
                  <a:pt x="0" y="502793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2" descr="icons/server.png"/>
          <p:cNvSpPr/>
          <p:nvPr/>
        </p:nvSpPr>
        <p:spPr>
          <a:xfrm>
            <a:off x="11020339" y="4996729"/>
            <a:ext cx="362140" cy="362140"/>
          </a:xfrm>
          <a:custGeom>
            <a:avLst/>
            <a:gdLst/>
            <a:ahLst/>
            <a:cxnLst/>
            <a:rect l="l" t="t" r="r" b="b"/>
            <a:pathLst>
              <a:path w="482854" h="482854" extrusionOk="0">
                <a:moveTo>
                  <a:pt x="0" y="0"/>
                </a:moveTo>
                <a:lnTo>
                  <a:pt x="482854" y="0"/>
                </a:lnTo>
                <a:lnTo>
                  <a:pt x="482854" y="482854"/>
                </a:lnTo>
                <a:lnTo>
                  <a:pt x="0" y="482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r="10" b="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45" name="Google Shape;145;p2"/>
          <p:cNvGrpSpPr/>
          <p:nvPr/>
        </p:nvGrpSpPr>
        <p:grpSpPr>
          <a:xfrm>
            <a:off x="11852900" y="4764871"/>
            <a:ext cx="5349154" cy="447018"/>
            <a:chOff x="0" y="-47625"/>
            <a:chExt cx="7132206" cy="596025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Backend</a:t>
              </a:r>
              <a:endParaRPr sz="1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1852900" y="5176933"/>
            <a:ext cx="5349154" cy="432732"/>
            <a:chOff x="0" y="-28575"/>
            <a:chExt cx="7132206" cy="576976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0" y="-28575"/>
              <a:ext cx="7132206" cy="576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s-MX" sz="1650">
                  <a:solidFill>
                    <a:srgbClr val="B9CBD6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HttpServlet</a:t>
              </a:r>
              <a:endParaRPr lang="en-US" altLang="es-MX" sz="1650">
                <a:solidFill>
                  <a:srgbClr val="B9CB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1" name="Google Shape;151;p2"/>
          <p:cNvSpPr/>
          <p:nvPr/>
        </p:nvSpPr>
        <p:spPr>
          <a:xfrm>
            <a:off x="10824200" y="5980176"/>
            <a:ext cx="754189" cy="754189"/>
          </a:xfrm>
          <a:custGeom>
            <a:avLst/>
            <a:gdLst/>
            <a:ahLst/>
            <a:cxnLst/>
            <a:rect l="l" t="t" r="r" b="b"/>
            <a:pathLst>
              <a:path w="1005586" h="1005586" extrusionOk="0">
                <a:moveTo>
                  <a:pt x="0" y="502793"/>
                </a:moveTo>
                <a:cubicBezTo>
                  <a:pt x="0" y="225171"/>
                  <a:pt x="225171" y="0"/>
                  <a:pt x="502793" y="0"/>
                </a:cubicBezTo>
                <a:cubicBezTo>
                  <a:pt x="780415" y="0"/>
                  <a:pt x="1005586" y="225171"/>
                  <a:pt x="1005586" y="502793"/>
                </a:cubicBezTo>
                <a:cubicBezTo>
                  <a:pt x="1005586" y="780415"/>
                  <a:pt x="780542" y="1005586"/>
                  <a:pt x="502793" y="1005586"/>
                </a:cubicBezTo>
                <a:cubicBezTo>
                  <a:pt x="225044" y="1005586"/>
                  <a:pt x="0" y="780542"/>
                  <a:pt x="0" y="502793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2" descr="icons/database.png"/>
          <p:cNvSpPr/>
          <p:nvPr/>
        </p:nvSpPr>
        <p:spPr>
          <a:xfrm>
            <a:off x="11020339" y="6176305"/>
            <a:ext cx="362140" cy="362140"/>
          </a:xfrm>
          <a:custGeom>
            <a:avLst/>
            <a:gdLst/>
            <a:ahLst/>
            <a:cxnLst/>
            <a:rect l="l" t="t" r="r" b="b"/>
            <a:pathLst>
              <a:path w="482854" h="482854" extrusionOk="0">
                <a:moveTo>
                  <a:pt x="0" y="0"/>
                </a:moveTo>
                <a:lnTo>
                  <a:pt x="482854" y="0"/>
                </a:lnTo>
                <a:lnTo>
                  <a:pt x="482854" y="482854"/>
                </a:lnTo>
                <a:lnTo>
                  <a:pt x="0" y="482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r="10" b="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53" name="Google Shape;153;p2"/>
          <p:cNvGrpSpPr/>
          <p:nvPr/>
        </p:nvGrpSpPr>
        <p:grpSpPr>
          <a:xfrm>
            <a:off x="11852900" y="5944457"/>
            <a:ext cx="5349154" cy="447018"/>
            <a:chOff x="0" y="-47625"/>
            <a:chExt cx="7132206" cy="596025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Base de datos</a:t>
              </a:r>
              <a:endParaRPr sz="1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6" name="Google Shape;156;p2"/>
          <p:cNvGrpSpPr/>
          <p:nvPr/>
        </p:nvGrpSpPr>
        <p:grpSpPr>
          <a:xfrm>
            <a:off x="11852900" y="6356509"/>
            <a:ext cx="5349154" cy="432732"/>
            <a:chOff x="0" y="-28575"/>
            <a:chExt cx="7132206" cy="576976"/>
          </a:xfrm>
        </p:grpSpPr>
        <p:sp>
          <p:nvSpPr>
            <p:cNvPr id="157" name="Google Shape;157;p2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" name="Google Shape;158;p2"/>
            <p:cNvSpPr txBox="1"/>
            <p:nvPr/>
          </p:nvSpPr>
          <p:spPr>
            <a:xfrm>
              <a:off x="0" y="-28575"/>
              <a:ext cx="7132206" cy="576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" altLang="en-US" sz="1650">
                  <a:solidFill>
                    <a:srgbClr val="B9CBD6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Workbench</a:t>
              </a:r>
              <a:r>
                <a:rPr lang="en-US" sz="1650">
                  <a:solidFill>
                    <a:srgbClr val="B9CBD6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SQL Database (SQL Server)</a:t>
              </a:r>
              <a:endParaRPr sz="165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50">
                <a:solidFill>
                  <a:srgbClr val="B9CB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9" name="Google Shape;159;p2"/>
          <p:cNvSpPr/>
          <p:nvPr/>
        </p:nvSpPr>
        <p:spPr>
          <a:xfrm>
            <a:off x="10824200" y="7159752"/>
            <a:ext cx="754189" cy="754189"/>
          </a:xfrm>
          <a:custGeom>
            <a:avLst/>
            <a:gdLst/>
            <a:ahLst/>
            <a:cxnLst/>
            <a:rect l="l" t="t" r="r" b="b"/>
            <a:pathLst>
              <a:path w="1005586" h="1005586" extrusionOk="0">
                <a:moveTo>
                  <a:pt x="0" y="502793"/>
                </a:moveTo>
                <a:cubicBezTo>
                  <a:pt x="0" y="225171"/>
                  <a:pt x="225171" y="0"/>
                  <a:pt x="502793" y="0"/>
                </a:cubicBezTo>
                <a:cubicBezTo>
                  <a:pt x="780415" y="0"/>
                  <a:pt x="1005586" y="225171"/>
                  <a:pt x="1005586" y="502793"/>
                </a:cubicBezTo>
                <a:cubicBezTo>
                  <a:pt x="1005586" y="780415"/>
                  <a:pt x="780542" y="1005586"/>
                  <a:pt x="502793" y="1005586"/>
                </a:cubicBezTo>
                <a:cubicBezTo>
                  <a:pt x="225044" y="1005586"/>
                  <a:pt x="0" y="780542"/>
                  <a:pt x="0" y="502793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2" descr="icons/cloud.png"/>
          <p:cNvSpPr/>
          <p:nvPr/>
        </p:nvSpPr>
        <p:spPr>
          <a:xfrm>
            <a:off x="11020339" y="7355881"/>
            <a:ext cx="362140" cy="362140"/>
          </a:xfrm>
          <a:custGeom>
            <a:avLst/>
            <a:gdLst/>
            <a:ahLst/>
            <a:cxnLst/>
            <a:rect l="l" t="t" r="r" b="b"/>
            <a:pathLst>
              <a:path w="482854" h="482854" extrusionOk="0">
                <a:moveTo>
                  <a:pt x="0" y="0"/>
                </a:moveTo>
                <a:lnTo>
                  <a:pt x="482854" y="0"/>
                </a:lnTo>
                <a:lnTo>
                  <a:pt x="482854" y="482854"/>
                </a:lnTo>
                <a:lnTo>
                  <a:pt x="0" y="482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r="10" b="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61" name="Google Shape;161;p2"/>
          <p:cNvGrpSpPr/>
          <p:nvPr/>
        </p:nvGrpSpPr>
        <p:grpSpPr>
          <a:xfrm>
            <a:off x="11852900" y="7124033"/>
            <a:ext cx="5349154" cy="447018"/>
            <a:chOff x="0" y="-47625"/>
            <a:chExt cx="7132206" cy="596025"/>
          </a:xfrm>
        </p:grpSpPr>
        <p:sp>
          <p:nvSpPr>
            <p:cNvPr id="162" name="Google Shape;162;p2"/>
            <p:cNvSpPr/>
            <p:nvPr/>
          </p:nvSpPr>
          <p:spPr>
            <a:xfrm>
              <a:off x="0" y="0"/>
              <a:ext cx="7132200" cy="548400"/>
            </a:xfrm>
            <a:custGeom>
              <a:avLst/>
              <a:gdLst/>
              <a:ahLst/>
              <a:cxnLst/>
              <a:rect l="l" t="t" r="r" b="b"/>
              <a:pathLst>
                <a:path w="7132200" h="548400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0" y="-47625"/>
              <a:ext cx="7132206" cy="596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Servicios externos</a:t>
              </a:r>
              <a:endParaRPr sz="1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4" name="Google Shape;164;p2"/>
          <p:cNvGrpSpPr/>
          <p:nvPr/>
        </p:nvGrpSpPr>
        <p:grpSpPr>
          <a:xfrm>
            <a:off x="11810990" y="7557516"/>
            <a:ext cx="5391059" cy="474801"/>
            <a:chOff x="-55880" y="0"/>
            <a:chExt cx="7188080" cy="633068"/>
          </a:xfrm>
        </p:grpSpPr>
        <p:sp>
          <p:nvSpPr>
            <p:cNvPr id="165" name="Google Shape;165;p2"/>
            <p:cNvSpPr/>
            <p:nvPr/>
          </p:nvSpPr>
          <p:spPr>
            <a:xfrm>
              <a:off x="0" y="0"/>
              <a:ext cx="7132200" cy="548401"/>
            </a:xfrm>
            <a:custGeom>
              <a:avLst/>
              <a:gdLst/>
              <a:ahLst/>
              <a:cxnLst/>
              <a:rect l="l" t="t" r="r" b="b"/>
              <a:pathLst>
                <a:path w="7132200" h="548401" extrusionOk="0">
                  <a:moveTo>
                    <a:pt x="0" y="0"/>
                  </a:moveTo>
                  <a:lnTo>
                    <a:pt x="7132200" y="0"/>
                  </a:lnTo>
                  <a:lnTo>
                    <a:pt x="7132200" y="548401"/>
                  </a:lnTo>
                  <a:lnTo>
                    <a:pt x="0" y="548401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03421" b="-2034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-55880" y="56093"/>
              <a:ext cx="7132206" cy="576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" altLang="en-US" sz="1650">
                  <a:solidFill>
                    <a:srgbClr val="B9CBD6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API RETHUS</a:t>
              </a:r>
              <a:r>
                <a:rPr lang="en-US" sz="1650">
                  <a:solidFill>
                    <a:srgbClr val="B9CBD6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· </a:t>
              </a:r>
              <a:r>
                <a:rPr lang="" altLang="en-US" sz="1650">
                  <a:solidFill>
                    <a:srgbClr val="B9CBD6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Algoritmo BCript</a:t>
              </a:r>
              <a:endParaRPr lang="" altLang="en-US" sz="1650">
                <a:solidFill>
                  <a:srgbClr val="B9CB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76" name="Google Shape;176;p3"/>
          <p:cNvGrpSpPr/>
          <p:nvPr/>
        </p:nvGrpSpPr>
        <p:grpSpPr>
          <a:xfrm>
            <a:off x="811520" y="987552"/>
            <a:ext cx="16184700" cy="1165951"/>
            <a:chOff x="0" y="0"/>
            <a:chExt cx="21579601" cy="15546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 extrusionOk="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20475" b="-22047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>
                  <a:solidFill>
                    <a:srgbClr val="38AA00"/>
                  </a:solidFill>
                  <a:latin typeface="Work Sans"/>
                  <a:ea typeface="Work Sans"/>
                  <a:cs typeface="Work Sans"/>
                  <a:sym typeface="Work Sans"/>
                </a:rPr>
                <a:t>Planteamiento del problema</a:t>
              </a:r>
              <a:endParaRPr sz="5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79" name="Google Shape;179;p3"/>
          <p:cNvSpPr/>
          <p:nvPr/>
        </p:nvSpPr>
        <p:spPr>
          <a:xfrm>
            <a:off x="811520" y="2468880"/>
            <a:ext cx="7681056" cy="6720744"/>
          </a:xfrm>
          <a:custGeom>
            <a:avLst/>
            <a:gdLst/>
            <a:ahLst/>
            <a:cxnLst/>
            <a:rect l="l" t="t" r="r" b="b"/>
            <a:pathLst>
              <a:path w="10241407" h="8960993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095103" y="0"/>
                </a:lnTo>
                <a:cubicBezTo>
                  <a:pt x="10175875" y="0"/>
                  <a:pt x="10241407" y="65532"/>
                  <a:pt x="10241407" y="146304"/>
                </a:cubicBezTo>
                <a:lnTo>
                  <a:pt x="10241407" y="8814689"/>
                </a:lnTo>
                <a:cubicBezTo>
                  <a:pt x="10241407" y="8895461"/>
                  <a:pt x="10175875" y="8960993"/>
                  <a:pt x="10095103" y="8960993"/>
                </a:cubicBezTo>
                <a:lnTo>
                  <a:pt x="146304" y="8960993"/>
                </a:lnTo>
                <a:cubicBezTo>
                  <a:pt x="65532" y="8960993"/>
                  <a:pt x="0" y="8895461"/>
                  <a:pt x="0" y="8814689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80" name="Google Shape;180;p3"/>
          <p:cNvGrpSpPr/>
          <p:nvPr/>
        </p:nvGrpSpPr>
        <p:grpSpPr>
          <a:xfrm>
            <a:off x="1291580" y="2783205"/>
            <a:ext cx="6858000" cy="577129"/>
            <a:chOff x="0" y="-38100"/>
            <a:chExt cx="9144000" cy="769506"/>
          </a:xfrm>
        </p:grpSpPr>
        <p:sp>
          <p:nvSpPr>
            <p:cNvPr id="181" name="Google Shape;181;p3"/>
            <p:cNvSpPr/>
            <p:nvPr/>
          </p:nvSpPr>
          <p:spPr>
            <a:xfrm>
              <a:off x="0" y="0"/>
              <a:ext cx="9144000" cy="731400"/>
            </a:xfrm>
            <a:custGeom>
              <a:avLst/>
              <a:gdLst/>
              <a:ahLst/>
              <a:cxnLst/>
              <a:rect l="l" t="t" r="r" b="b"/>
              <a:pathLst>
                <a:path w="9144000" h="731400" extrusionOk="0">
                  <a:moveTo>
                    <a:pt x="0" y="0"/>
                  </a:moveTo>
                  <a:lnTo>
                    <a:pt x="9144000" y="0"/>
                  </a:lnTo>
                  <a:lnTo>
                    <a:pt x="9144000" y="731400"/>
                  </a:lnTo>
                  <a:lnTo>
                    <a:pt x="0" y="731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93593" b="-19359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3"/>
            <p:cNvSpPr txBox="1"/>
            <p:nvPr/>
          </p:nvSpPr>
          <p:spPr>
            <a:xfrm>
              <a:off x="0" y="-38100"/>
              <a:ext cx="9144000" cy="769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Gestión manual e informal</a:t>
              </a:r>
              <a:endParaRPr sz="24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83" name="Google Shape;183;p3"/>
          <p:cNvSpPr/>
          <p:nvPr/>
        </p:nvSpPr>
        <p:spPr>
          <a:xfrm>
            <a:off x="1291580" y="3497580"/>
            <a:ext cx="438722" cy="438721"/>
          </a:xfrm>
          <a:custGeom>
            <a:avLst/>
            <a:gdLst/>
            <a:ahLst/>
            <a:cxnLst/>
            <a:rect l="l" t="t" r="r" b="b"/>
            <a:pathLst>
              <a:path w="584962" h="584962" extrusionOk="0">
                <a:moveTo>
                  <a:pt x="0" y="292481"/>
                </a:moveTo>
                <a:cubicBezTo>
                  <a:pt x="0" y="130937"/>
                  <a:pt x="130937" y="0"/>
                  <a:pt x="292481" y="0"/>
                </a:cubicBezTo>
                <a:cubicBezTo>
                  <a:pt x="454025" y="0"/>
                  <a:pt x="584962" y="130937"/>
                  <a:pt x="584962" y="292481"/>
                </a:cubicBezTo>
                <a:cubicBezTo>
                  <a:pt x="584962" y="454025"/>
                  <a:pt x="454025" y="584962"/>
                  <a:pt x="292481" y="584962"/>
                </a:cubicBezTo>
                <a:cubicBezTo>
                  <a:pt x="130937" y="584962"/>
                  <a:pt x="0" y="454025"/>
                  <a:pt x="0" y="292481"/>
                </a:cubicBezTo>
                <a:close/>
              </a:path>
            </a:pathLst>
          </a:custGeom>
          <a:solidFill>
            <a:srgbClr val="C74E3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3" descr="icons/warning.png"/>
          <p:cNvSpPr/>
          <p:nvPr/>
        </p:nvSpPr>
        <p:spPr>
          <a:xfrm>
            <a:off x="1405700" y="3611699"/>
            <a:ext cx="210693" cy="210693"/>
          </a:xfrm>
          <a:custGeom>
            <a:avLst/>
            <a:gdLst/>
            <a:ahLst/>
            <a:cxnLst/>
            <a:rect l="l" t="t" r="r" b="b"/>
            <a:pathLst>
              <a:path w="280924" h="280924" extrusionOk="0">
                <a:moveTo>
                  <a:pt x="0" y="0"/>
                </a:moveTo>
                <a:lnTo>
                  <a:pt x="280924" y="0"/>
                </a:lnTo>
                <a:lnTo>
                  <a:pt x="280924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9" b="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85" name="Google Shape;185;p3"/>
          <p:cNvGrpSpPr/>
          <p:nvPr/>
        </p:nvGrpSpPr>
        <p:grpSpPr>
          <a:xfrm>
            <a:off x="1936232" y="3414141"/>
            <a:ext cx="6377854" cy="714375"/>
            <a:chOff x="0" y="-38100"/>
            <a:chExt cx="8503806" cy="9525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 extrusionOk="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31212" b="-1312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Enfermeras/os sin empleo</a:t>
              </a:r>
              <a:endParaRPr sz="172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sz="172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291580" y="4299966"/>
            <a:ext cx="438722" cy="438721"/>
          </a:xfrm>
          <a:custGeom>
            <a:avLst/>
            <a:gdLst/>
            <a:ahLst/>
            <a:cxnLst/>
            <a:rect l="l" t="t" r="r" b="b"/>
            <a:pathLst>
              <a:path w="584962" h="584962" extrusionOk="0">
                <a:moveTo>
                  <a:pt x="0" y="292481"/>
                </a:moveTo>
                <a:cubicBezTo>
                  <a:pt x="0" y="130937"/>
                  <a:pt x="130937" y="0"/>
                  <a:pt x="292481" y="0"/>
                </a:cubicBezTo>
                <a:cubicBezTo>
                  <a:pt x="454025" y="0"/>
                  <a:pt x="584962" y="130937"/>
                  <a:pt x="584962" y="292481"/>
                </a:cubicBezTo>
                <a:cubicBezTo>
                  <a:pt x="584962" y="454025"/>
                  <a:pt x="454025" y="584962"/>
                  <a:pt x="292481" y="584962"/>
                </a:cubicBezTo>
                <a:cubicBezTo>
                  <a:pt x="130937" y="584962"/>
                  <a:pt x="0" y="454025"/>
                  <a:pt x="0" y="292481"/>
                </a:cubicBezTo>
                <a:close/>
              </a:path>
            </a:pathLst>
          </a:custGeom>
          <a:solidFill>
            <a:srgbClr val="C74E3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3" descr="icons/warning.png"/>
          <p:cNvSpPr/>
          <p:nvPr/>
        </p:nvSpPr>
        <p:spPr>
          <a:xfrm>
            <a:off x="1405700" y="4414085"/>
            <a:ext cx="210693" cy="210693"/>
          </a:xfrm>
          <a:custGeom>
            <a:avLst/>
            <a:gdLst/>
            <a:ahLst/>
            <a:cxnLst/>
            <a:rect l="l" t="t" r="r" b="b"/>
            <a:pathLst>
              <a:path w="280924" h="280924" extrusionOk="0">
                <a:moveTo>
                  <a:pt x="0" y="0"/>
                </a:moveTo>
                <a:lnTo>
                  <a:pt x="280924" y="0"/>
                </a:lnTo>
                <a:lnTo>
                  <a:pt x="280924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9" b="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90" name="Google Shape;190;p3"/>
          <p:cNvGrpSpPr/>
          <p:nvPr/>
        </p:nvGrpSpPr>
        <p:grpSpPr>
          <a:xfrm>
            <a:off x="1936232" y="4216527"/>
            <a:ext cx="6377854" cy="714375"/>
            <a:chOff x="0" y="-38100"/>
            <a:chExt cx="8503806" cy="952500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 extrusionOk="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31212" b="-1312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Tener otra fuente de ingreso</a:t>
              </a:r>
              <a:endParaRPr sz="172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2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3" name="Google Shape;193;p3"/>
          <p:cNvSpPr/>
          <p:nvPr/>
        </p:nvSpPr>
        <p:spPr>
          <a:xfrm>
            <a:off x="1291580" y="5102352"/>
            <a:ext cx="438722" cy="438722"/>
          </a:xfrm>
          <a:custGeom>
            <a:avLst/>
            <a:gdLst/>
            <a:ahLst/>
            <a:cxnLst/>
            <a:rect l="l" t="t" r="r" b="b"/>
            <a:pathLst>
              <a:path w="584962" h="584962" extrusionOk="0">
                <a:moveTo>
                  <a:pt x="0" y="292481"/>
                </a:moveTo>
                <a:cubicBezTo>
                  <a:pt x="0" y="130937"/>
                  <a:pt x="130937" y="0"/>
                  <a:pt x="292481" y="0"/>
                </a:cubicBezTo>
                <a:cubicBezTo>
                  <a:pt x="454025" y="0"/>
                  <a:pt x="584962" y="130937"/>
                  <a:pt x="584962" y="292481"/>
                </a:cubicBezTo>
                <a:cubicBezTo>
                  <a:pt x="584962" y="454025"/>
                  <a:pt x="454025" y="584962"/>
                  <a:pt x="292481" y="584962"/>
                </a:cubicBezTo>
                <a:cubicBezTo>
                  <a:pt x="130937" y="584962"/>
                  <a:pt x="0" y="454025"/>
                  <a:pt x="0" y="292481"/>
                </a:cubicBezTo>
                <a:close/>
              </a:path>
            </a:pathLst>
          </a:custGeom>
          <a:solidFill>
            <a:srgbClr val="C74E3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3" descr="icons/warning.png"/>
          <p:cNvSpPr/>
          <p:nvPr/>
        </p:nvSpPr>
        <p:spPr>
          <a:xfrm>
            <a:off x="1405700" y="5216471"/>
            <a:ext cx="210693" cy="210693"/>
          </a:xfrm>
          <a:custGeom>
            <a:avLst/>
            <a:gdLst/>
            <a:ahLst/>
            <a:cxnLst/>
            <a:rect l="l" t="t" r="r" b="b"/>
            <a:pathLst>
              <a:path w="280924" h="280924" extrusionOk="0">
                <a:moveTo>
                  <a:pt x="0" y="0"/>
                </a:moveTo>
                <a:lnTo>
                  <a:pt x="280924" y="0"/>
                </a:lnTo>
                <a:lnTo>
                  <a:pt x="280924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9" b="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95" name="Google Shape;195;p3"/>
          <p:cNvGrpSpPr/>
          <p:nvPr/>
        </p:nvGrpSpPr>
        <p:grpSpPr>
          <a:xfrm>
            <a:off x="1936232" y="5018913"/>
            <a:ext cx="6377854" cy="714375"/>
            <a:chOff x="0" y="-38100"/>
            <a:chExt cx="8503806" cy="952500"/>
          </a:xfrm>
        </p:grpSpPr>
        <p:sp>
          <p:nvSpPr>
            <p:cNvPr id="196" name="Google Shape;196;p3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 extrusionOk="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31212" b="-1312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" name="Google Shape;197;p3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Dificultad para controlar la información</a:t>
              </a:r>
              <a:endParaRPr sz="172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2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8" name="Google Shape;198;p3"/>
          <p:cNvSpPr/>
          <p:nvPr/>
        </p:nvSpPr>
        <p:spPr>
          <a:xfrm>
            <a:off x="1291580" y="5904738"/>
            <a:ext cx="438722" cy="438722"/>
          </a:xfrm>
          <a:custGeom>
            <a:avLst/>
            <a:gdLst/>
            <a:ahLst/>
            <a:cxnLst/>
            <a:rect l="l" t="t" r="r" b="b"/>
            <a:pathLst>
              <a:path w="584962" h="584962" extrusionOk="0">
                <a:moveTo>
                  <a:pt x="0" y="292481"/>
                </a:moveTo>
                <a:cubicBezTo>
                  <a:pt x="0" y="130937"/>
                  <a:pt x="130937" y="0"/>
                  <a:pt x="292481" y="0"/>
                </a:cubicBezTo>
                <a:cubicBezTo>
                  <a:pt x="454025" y="0"/>
                  <a:pt x="584962" y="130937"/>
                  <a:pt x="584962" y="292481"/>
                </a:cubicBezTo>
                <a:cubicBezTo>
                  <a:pt x="584962" y="454025"/>
                  <a:pt x="454025" y="584962"/>
                  <a:pt x="292481" y="584962"/>
                </a:cubicBezTo>
                <a:cubicBezTo>
                  <a:pt x="130937" y="584962"/>
                  <a:pt x="0" y="454025"/>
                  <a:pt x="0" y="292481"/>
                </a:cubicBezTo>
                <a:close/>
              </a:path>
            </a:pathLst>
          </a:custGeom>
          <a:solidFill>
            <a:srgbClr val="C74E3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3" descr="icons/warning.png"/>
          <p:cNvSpPr/>
          <p:nvPr/>
        </p:nvSpPr>
        <p:spPr>
          <a:xfrm>
            <a:off x="1405700" y="6018857"/>
            <a:ext cx="210693" cy="210693"/>
          </a:xfrm>
          <a:custGeom>
            <a:avLst/>
            <a:gdLst/>
            <a:ahLst/>
            <a:cxnLst/>
            <a:rect l="l" t="t" r="r" b="b"/>
            <a:pathLst>
              <a:path w="280924" h="280924" extrusionOk="0">
                <a:moveTo>
                  <a:pt x="0" y="0"/>
                </a:moveTo>
                <a:lnTo>
                  <a:pt x="280924" y="0"/>
                </a:lnTo>
                <a:lnTo>
                  <a:pt x="280924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9" b="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00" name="Google Shape;200;p3"/>
          <p:cNvGrpSpPr/>
          <p:nvPr/>
        </p:nvGrpSpPr>
        <p:grpSpPr>
          <a:xfrm>
            <a:off x="1936232" y="5821299"/>
            <a:ext cx="6377854" cy="714375"/>
            <a:chOff x="0" y="-38100"/>
            <a:chExt cx="8503806" cy="952500"/>
          </a:xfrm>
        </p:grpSpPr>
        <p:sp>
          <p:nvSpPr>
            <p:cNvPr id="201" name="Google Shape;201;p3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 extrusionOk="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31212" b="-1312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" name="Google Shape;202;p3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Falta de inventario de medicamentos</a:t>
              </a:r>
              <a:endParaRPr sz="172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03" name="Google Shape;203;p3"/>
          <p:cNvSpPr/>
          <p:nvPr/>
        </p:nvSpPr>
        <p:spPr>
          <a:xfrm>
            <a:off x="1291580" y="6707124"/>
            <a:ext cx="438722" cy="438721"/>
          </a:xfrm>
          <a:custGeom>
            <a:avLst/>
            <a:gdLst/>
            <a:ahLst/>
            <a:cxnLst/>
            <a:rect l="l" t="t" r="r" b="b"/>
            <a:pathLst>
              <a:path w="584962" h="584962" extrusionOk="0">
                <a:moveTo>
                  <a:pt x="0" y="292481"/>
                </a:moveTo>
                <a:cubicBezTo>
                  <a:pt x="0" y="130937"/>
                  <a:pt x="130937" y="0"/>
                  <a:pt x="292481" y="0"/>
                </a:cubicBezTo>
                <a:cubicBezTo>
                  <a:pt x="454025" y="0"/>
                  <a:pt x="584962" y="130937"/>
                  <a:pt x="584962" y="292481"/>
                </a:cubicBezTo>
                <a:cubicBezTo>
                  <a:pt x="584962" y="454025"/>
                  <a:pt x="454025" y="584962"/>
                  <a:pt x="292481" y="584962"/>
                </a:cubicBezTo>
                <a:cubicBezTo>
                  <a:pt x="130937" y="584962"/>
                  <a:pt x="0" y="454025"/>
                  <a:pt x="0" y="292481"/>
                </a:cubicBezTo>
                <a:close/>
              </a:path>
            </a:pathLst>
          </a:custGeom>
          <a:solidFill>
            <a:srgbClr val="C74E3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3" descr="icons/warning.png"/>
          <p:cNvSpPr/>
          <p:nvPr/>
        </p:nvSpPr>
        <p:spPr>
          <a:xfrm>
            <a:off x="1405700" y="6821243"/>
            <a:ext cx="210693" cy="210693"/>
          </a:xfrm>
          <a:custGeom>
            <a:avLst/>
            <a:gdLst/>
            <a:ahLst/>
            <a:cxnLst/>
            <a:rect l="l" t="t" r="r" b="b"/>
            <a:pathLst>
              <a:path w="280924" h="280924" extrusionOk="0">
                <a:moveTo>
                  <a:pt x="0" y="0"/>
                </a:moveTo>
                <a:lnTo>
                  <a:pt x="280924" y="0"/>
                </a:lnTo>
                <a:lnTo>
                  <a:pt x="280924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9" b="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05" name="Google Shape;205;p3"/>
          <p:cNvGrpSpPr/>
          <p:nvPr/>
        </p:nvGrpSpPr>
        <p:grpSpPr>
          <a:xfrm>
            <a:off x="1936232" y="6623685"/>
            <a:ext cx="6377854" cy="714375"/>
            <a:chOff x="0" y="-38100"/>
            <a:chExt cx="8503806" cy="952500"/>
          </a:xfrm>
        </p:grpSpPr>
        <p:sp>
          <p:nvSpPr>
            <p:cNvPr id="206" name="Google Shape;206;p3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 extrusionOk="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31212" b="-1312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" name="Google Shape;207;p3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Confundir los tratamientos que necesitan los pacientes</a:t>
              </a:r>
              <a:endParaRPr sz="172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2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08" name="Google Shape;208;p3"/>
          <p:cNvSpPr/>
          <p:nvPr/>
        </p:nvSpPr>
        <p:spPr>
          <a:xfrm>
            <a:off x="1291580" y="7509510"/>
            <a:ext cx="438722" cy="438721"/>
          </a:xfrm>
          <a:custGeom>
            <a:avLst/>
            <a:gdLst/>
            <a:ahLst/>
            <a:cxnLst/>
            <a:rect l="l" t="t" r="r" b="b"/>
            <a:pathLst>
              <a:path w="584962" h="584962" extrusionOk="0">
                <a:moveTo>
                  <a:pt x="0" y="292481"/>
                </a:moveTo>
                <a:cubicBezTo>
                  <a:pt x="0" y="130937"/>
                  <a:pt x="130937" y="0"/>
                  <a:pt x="292481" y="0"/>
                </a:cubicBezTo>
                <a:cubicBezTo>
                  <a:pt x="454025" y="0"/>
                  <a:pt x="584962" y="130937"/>
                  <a:pt x="584962" y="292481"/>
                </a:cubicBezTo>
                <a:cubicBezTo>
                  <a:pt x="584962" y="454025"/>
                  <a:pt x="454025" y="584962"/>
                  <a:pt x="292481" y="584962"/>
                </a:cubicBezTo>
                <a:cubicBezTo>
                  <a:pt x="130937" y="584962"/>
                  <a:pt x="0" y="454025"/>
                  <a:pt x="0" y="292481"/>
                </a:cubicBezTo>
                <a:close/>
              </a:path>
            </a:pathLst>
          </a:custGeom>
          <a:solidFill>
            <a:srgbClr val="C74E3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3" descr="icons/warning.png"/>
          <p:cNvSpPr/>
          <p:nvPr/>
        </p:nvSpPr>
        <p:spPr>
          <a:xfrm>
            <a:off x="1405700" y="7623629"/>
            <a:ext cx="210693" cy="210693"/>
          </a:xfrm>
          <a:custGeom>
            <a:avLst/>
            <a:gdLst/>
            <a:ahLst/>
            <a:cxnLst/>
            <a:rect l="l" t="t" r="r" b="b"/>
            <a:pathLst>
              <a:path w="280924" h="280924" extrusionOk="0">
                <a:moveTo>
                  <a:pt x="0" y="0"/>
                </a:moveTo>
                <a:lnTo>
                  <a:pt x="280924" y="0"/>
                </a:lnTo>
                <a:lnTo>
                  <a:pt x="280924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9" b="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10" name="Google Shape;210;p3"/>
          <p:cNvGrpSpPr/>
          <p:nvPr/>
        </p:nvGrpSpPr>
        <p:grpSpPr>
          <a:xfrm>
            <a:off x="1936232" y="7426071"/>
            <a:ext cx="6377854" cy="714375"/>
            <a:chOff x="0" y="-38100"/>
            <a:chExt cx="8503806" cy="952500"/>
          </a:xfrm>
        </p:grpSpPr>
        <p:sp>
          <p:nvSpPr>
            <p:cNvPr id="211" name="Google Shape;211;p3"/>
            <p:cNvSpPr/>
            <p:nvPr/>
          </p:nvSpPr>
          <p:spPr>
            <a:xfrm>
              <a:off x="0" y="0"/>
              <a:ext cx="8503800" cy="914400"/>
            </a:xfrm>
            <a:custGeom>
              <a:avLst/>
              <a:gdLst/>
              <a:ahLst/>
              <a:cxnLst/>
              <a:rect l="l" t="t" r="r" b="b"/>
              <a:pathLst>
                <a:path w="8503800" h="914400" extrusionOk="0">
                  <a:moveTo>
                    <a:pt x="0" y="0"/>
                  </a:moveTo>
                  <a:lnTo>
                    <a:pt x="8503800" y="0"/>
                  </a:lnTo>
                  <a:lnTo>
                    <a:pt x="85038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31212" b="-1312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3"/>
            <p:cNvSpPr txBox="1"/>
            <p:nvPr/>
          </p:nvSpPr>
          <p:spPr>
            <a:xfrm>
              <a:off x="0" y="-38100"/>
              <a:ext cx="8503806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Enfermeras tratando un solo paciente</a:t>
              </a:r>
              <a:endParaRPr sz="172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2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13" name="Google Shape;213;p3"/>
          <p:cNvSpPr/>
          <p:nvPr/>
        </p:nvSpPr>
        <p:spPr>
          <a:xfrm>
            <a:off x="8903960" y="2468880"/>
            <a:ext cx="8572500" cy="6720744"/>
          </a:xfrm>
          <a:custGeom>
            <a:avLst/>
            <a:gdLst/>
            <a:ahLst/>
            <a:cxnLst/>
            <a:rect l="l" t="t" r="r" b="b"/>
            <a:pathLst>
              <a:path w="11430000" h="8960993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1283696" y="0"/>
                </a:lnTo>
                <a:cubicBezTo>
                  <a:pt x="11364468" y="0"/>
                  <a:pt x="11430000" y="65532"/>
                  <a:pt x="11430000" y="146304"/>
                </a:cubicBezTo>
                <a:lnTo>
                  <a:pt x="11430000" y="8814689"/>
                </a:lnTo>
                <a:cubicBezTo>
                  <a:pt x="11430000" y="8895461"/>
                  <a:pt x="11364468" y="8960993"/>
                  <a:pt x="11283696" y="8960993"/>
                </a:cubicBezTo>
                <a:lnTo>
                  <a:pt x="146304" y="8960993"/>
                </a:lnTo>
                <a:cubicBezTo>
                  <a:pt x="65532" y="8960993"/>
                  <a:pt x="0" y="8895461"/>
                  <a:pt x="0" y="8814689"/>
                </a:cubicBezTo>
                <a:close/>
              </a:path>
            </a:pathLst>
          </a:custGeom>
          <a:solidFill>
            <a:srgbClr val="FACE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9384020" y="288036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1097280" h="1097280" extrusionOk="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789"/>
                  <a:pt x="0" y="548640"/>
                </a:cubicBezTo>
                <a:close/>
              </a:path>
            </a:pathLst>
          </a:custGeom>
          <a:solidFill>
            <a:srgbClr val="C74E3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15" name="Google Shape;215;p3"/>
          <p:cNvGrpSpPr/>
          <p:nvPr/>
        </p:nvGrpSpPr>
        <p:grpSpPr>
          <a:xfrm>
            <a:off x="10412720" y="2961513"/>
            <a:ext cx="6858000" cy="645975"/>
            <a:chOff x="0" y="-38100"/>
            <a:chExt cx="9144000" cy="861300"/>
          </a:xfrm>
        </p:grpSpPr>
        <p:sp>
          <p:nvSpPr>
            <p:cNvPr id="216" name="Google Shape;216;p3"/>
            <p:cNvSpPr/>
            <p:nvPr/>
          </p:nvSpPr>
          <p:spPr>
            <a:xfrm>
              <a:off x="0" y="0"/>
              <a:ext cx="9144000" cy="823199"/>
            </a:xfrm>
            <a:custGeom>
              <a:avLst/>
              <a:gdLst/>
              <a:ahLst/>
              <a:cxnLst/>
              <a:rect l="l" t="t" r="r" b="b"/>
              <a:pathLst>
                <a:path w="9144000" h="823199" extrusionOk="0">
                  <a:moveTo>
                    <a:pt x="0" y="0"/>
                  </a:moveTo>
                  <a:lnTo>
                    <a:pt x="9144000" y="0"/>
                  </a:lnTo>
                  <a:lnTo>
                    <a:pt x="9144000" y="823199"/>
                  </a:lnTo>
                  <a:lnTo>
                    <a:pt x="0" y="823199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66431" b="-16643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" name="Google Shape;217;p3"/>
            <p:cNvSpPr txBox="1"/>
            <p:nvPr/>
          </p:nvSpPr>
          <p:spPr>
            <a:xfrm>
              <a:off x="0" y="-38100"/>
              <a:ext cx="9144000" cy="8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Problema de salud</a:t>
              </a:r>
              <a:endPara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8" name="Google Shape;218;p3"/>
          <p:cNvGrpSpPr/>
          <p:nvPr/>
        </p:nvGrpSpPr>
        <p:grpSpPr>
          <a:xfrm>
            <a:off x="9384020" y="3880485"/>
            <a:ext cx="7681051" cy="1331775"/>
            <a:chOff x="0" y="-38100"/>
            <a:chExt cx="10241400" cy="1775700"/>
          </a:xfrm>
        </p:grpSpPr>
        <p:sp>
          <p:nvSpPr>
            <p:cNvPr id="219" name="Google Shape;219;p3"/>
            <p:cNvSpPr/>
            <p:nvPr/>
          </p:nvSpPr>
          <p:spPr>
            <a:xfrm>
              <a:off x="0" y="0"/>
              <a:ext cx="10241400" cy="1737599"/>
            </a:xfrm>
            <a:custGeom>
              <a:avLst/>
              <a:gdLst/>
              <a:ahLst/>
              <a:cxnLst/>
              <a:rect l="l" t="t" r="r" b="b"/>
              <a:pathLst>
                <a:path w="10241400" h="1737599" extrusionOk="0">
                  <a:moveTo>
                    <a:pt x="0" y="0"/>
                  </a:moveTo>
                  <a:lnTo>
                    <a:pt x="10241400" y="0"/>
                  </a:lnTo>
                  <a:lnTo>
                    <a:pt x="10241400" y="1737599"/>
                  </a:lnTo>
                  <a:lnTo>
                    <a:pt x="0" y="1737599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64842" b="-6484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0" name="Google Shape;220;p3"/>
            <p:cNvSpPr txBox="1"/>
            <p:nvPr/>
          </p:nvSpPr>
          <p:spPr>
            <a:xfrm>
              <a:off x="0" y="-38100"/>
              <a:ext cx="10241394" cy="177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Una de las razones principales para desarrollar Nurse radica en la ineficiencia y vulnerabilidad del registro manual en papel que se usa tradicionalmente en la atención domiciliaria.</a:t>
              </a:r>
              <a:endParaRPr sz="187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7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21" name="Google Shape;221;p3"/>
          <p:cNvSpPr/>
          <p:nvPr/>
        </p:nvSpPr>
        <p:spPr>
          <a:xfrm>
            <a:off x="9384020" y="5417820"/>
            <a:ext cx="7681056" cy="3497389"/>
          </a:xfrm>
          <a:custGeom>
            <a:avLst/>
            <a:gdLst/>
            <a:ahLst/>
            <a:cxnLst/>
            <a:rect l="l" t="t" r="r" b="b"/>
            <a:pathLst>
              <a:path w="10241407" h="4663186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095103" y="0"/>
                </a:lnTo>
                <a:cubicBezTo>
                  <a:pt x="10175875" y="0"/>
                  <a:pt x="10241407" y="65532"/>
                  <a:pt x="10241407" y="146304"/>
                </a:cubicBezTo>
                <a:lnTo>
                  <a:pt x="10241407" y="4516882"/>
                </a:lnTo>
                <a:cubicBezTo>
                  <a:pt x="10241407" y="4597654"/>
                  <a:pt x="10175875" y="4663186"/>
                  <a:pt x="10095103" y="4663186"/>
                </a:cubicBezTo>
                <a:lnTo>
                  <a:pt x="146304" y="4663186"/>
                </a:lnTo>
                <a:cubicBezTo>
                  <a:pt x="65532" y="4663186"/>
                  <a:pt x="0" y="4597654"/>
                  <a:pt x="0" y="4516882"/>
                </a:cubicBezTo>
                <a:close/>
              </a:path>
            </a:pathLst>
          </a:custGeom>
          <a:solidFill>
            <a:srgbClr val="00304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22" name="Google Shape;222;p3"/>
          <p:cNvGrpSpPr/>
          <p:nvPr/>
        </p:nvGrpSpPr>
        <p:grpSpPr>
          <a:xfrm>
            <a:off x="9795500" y="5663565"/>
            <a:ext cx="6858000" cy="467325"/>
            <a:chOff x="0" y="-38100"/>
            <a:chExt cx="9144000" cy="623100"/>
          </a:xfrm>
        </p:grpSpPr>
        <p:sp>
          <p:nvSpPr>
            <p:cNvPr id="223" name="Google Shape;223;p3"/>
            <p:cNvSpPr/>
            <p:nvPr/>
          </p:nvSpPr>
          <p:spPr>
            <a:xfrm>
              <a:off x="0" y="0"/>
              <a:ext cx="9144000" cy="585000"/>
            </a:xfrm>
            <a:custGeom>
              <a:avLst/>
              <a:gdLst/>
              <a:ahLst/>
              <a:cxnLst/>
              <a:rect l="l" t="t" r="r" b="b"/>
              <a:pathLst>
                <a:path w="9144000" h="585000" extrusionOk="0">
                  <a:moveTo>
                    <a:pt x="0" y="0"/>
                  </a:moveTo>
                  <a:lnTo>
                    <a:pt x="9144000" y="0"/>
                  </a:lnTo>
                  <a:lnTo>
                    <a:pt x="9144000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54581" b="-25458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4" name="Google Shape;224;p3"/>
            <p:cNvSpPr txBox="1"/>
            <p:nvPr/>
          </p:nvSpPr>
          <p:spPr>
            <a:xfrm>
              <a:off x="0" y="-38100"/>
              <a:ext cx="9144000" cy="6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EC7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SOLUCIÓN PROPUESTA</a:t>
              </a:r>
              <a:endParaRPr sz="1800" b="1">
                <a:solidFill>
                  <a:srgbClr val="FACEC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25" name="Google Shape;225;p3"/>
          <p:cNvGrpSpPr/>
          <p:nvPr/>
        </p:nvGrpSpPr>
        <p:grpSpPr>
          <a:xfrm>
            <a:off x="9795500" y="6136481"/>
            <a:ext cx="6926400" cy="2573273"/>
            <a:chOff x="0" y="-47625"/>
            <a:chExt cx="9235200" cy="3431031"/>
          </a:xfrm>
        </p:grpSpPr>
        <p:sp>
          <p:nvSpPr>
            <p:cNvPr id="226" name="Google Shape;226;p3"/>
            <p:cNvSpPr/>
            <p:nvPr/>
          </p:nvSpPr>
          <p:spPr>
            <a:xfrm>
              <a:off x="0" y="0"/>
              <a:ext cx="9235200" cy="3383406"/>
            </a:xfrm>
            <a:custGeom>
              <a:avLst/>
              <a:gdLst/>
              <a:ahLst/>
              <a:cxnLst/>
              <a:rect l="l" t="t" r="r" b="b"/>
              <a:pathLst>
                <a:path w="9235200" h="3383406" extrusionOk="0">
                  <a:moveTo>
                    <a:pt x="0" y="0"/>
                  </a:moveTo>
                  <a:lnTo>
                    <a:pt x="9235200" y="0"/>
                  </a:lnTo>
                  <a:lnTo>
                    <a:pt x="9235200" y="3383406"/>
                  </a:lnTo>
                  <a:lnTo>
                    <a:pt x="0" y="3383406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3185" b="-318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7" name="Google Shape;227;p3"/>
            <p:cNvSpPr txBox="1"/>
            <p:nvPr/>
          </p:nvSpPr>
          <p:spPr>
            <a:xfrm>
              <a:off x="0" y="-47625"/>
              <a:ext cx="9235199" cy="343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Nurse funcionara parea la gestion de informacion, la sobrecarga del cuidado familiar, riesgo en instrucciones  y saturacion en el sistema de salud </a:t>
              </a:r>
              <a:endParaRPr sz="19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28" name="Google Shape;228;p3"/>
          <p:cNvPicPr preferRelativeResize="0"/>
          <p:nvPr/>
        </p:nvPicPr>
        <p:blipFill rotWithShape="1">
          <a:blip r:embed="rId4"/>
          <a:srcRect l="30806" t="27332" r="33081" b="42669"/>
          <a:stretch>
            <a:fillRect/>
          </a:stretch>
        </p:blipFill>
        <p:spPr>
          <a:xfrm>
            <a:off x="9448800" y="3009900"/>
            <a:ext cx="680085" cy="666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4"/>
          <p:cNvGrpSpPr/>
          <p:nvPr/>
        </p:nvGrpSpPr>
        <p:grpSpPr>
          <a:xfrm>
            <a:off x="822960" y="540353"/>
            <a:ext cx="13716000" cy="515869"/>
            <a:chOff x="0" y="-47625"/>
            <a:chExt cx="18288000" cy="687825"/>
          </a:xfrm>
        </p:grpSpPr>
        <p:sp>
          <p:nvSpPr>
            <p:cNvPr id="238" name="Google Shape;238;p4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506612" b="-50660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9" name="Google Shape;239;p4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39A9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METAS DEL PROYECTO</a:t>
              </a:r>
              <a:endParaRPr sz="1950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0" name="Google Shape;240;p4"/>
          <p:cNvGrpSpPr/>
          <p:nvPr/>
        </p:nvGrpSpPr>
        <p:grpSpPr>
          <a:xfrm>
            <a:off x="822960" y="987552"/>
            <a:ext cx="16184700" cy="1165951"/>
            <a:chOff x="0" y="0"/>
            <a:chExt cx="21579601" cy="1554600"/>
          </a:xfrm>
        </p:grpSpPr>
        <p:sp>
          <p:nvSpPr>
            <p:cNvPr id="241" name="Google Shape;241;p4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 extrusionOk="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220475" b="-22047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2" name="Google Shape;242;p4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>
                  <a:solidFill>
                    <a:srgbClr val="38AA00"/>
                  </a:solidFill>
                  <a:latin typeface="Work Sans"/>
                  <a:ea typeface="Work Sans"/>
                  <a:cs typeface="Work Sans"/>
                  <a:sym typeface="Work Sans"/>
                </a:rPr>
                <a:t>Objetivos</a:t>
              </a:r>
              <a:endParaRPr sz="5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243" name="Google Shape;243;p4"/>
          <p:cNvSpPr/>
          <p:nvPr/>
        </p:nvSpPr>
        <p:spPr>
          <a:xfrm>
            <a:off x="822960" y="2468880"/>
            <a:ext cx="15910656" cy="1577244"/>
          </a:xfrm>
          <a:custGeom>
            <a:avLst/>
            <a:gdLst/>
            <a:ahLst/>
            <a:cxnLst/>
            <a:rect l="l" t="t" r="r" b="b"/>
            <a:pathLst>
              <a:path w="21214207" h="2102993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1067903" y="0"/>
                </a:lnTo>
                <a:cubicBezTo>
                  <a:pt x="21148675" y="0"/>
                  <a:pt x="21214207" y="65532"/>
                  <a:pt x="21214207" y="146304"/>
                </a:cubicBezTo>
                <a:lnTo>
                  <a:pt x="21214207" y="1956689"/>
                </a:lnTo>
                <a:cubicBezTo>
                  <a:pt x="21214207" y="2037461"/>
                  <a:pt x="21148675" y="2102993"/>
                  <a:pt x="21067903" y="2102993"/>
                </a:cubicBezTo>
                <a:lnTo>
                  <a:pt x="146304" y="2102993"/>
                </a:lnTo>
                <a:cubicBezTo>
                  <a:pt x="65532" y="2102993"/>
                  <a:pt x="0" y="2037461"/>
                  <a:pt x="0" y="1956689"/>
                </a:cubicBezTo>
                <a:close/>
              </a:path>
            </a:pathLst>
          </a:custGeom>
          <a:solidFill>
            <a:srgbClr val="00304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1303020" y="2811780"/>
            <a:ext cx="891539" cy="891539"/>
          </a:xfrm>
          <a:custGeom>
            <a:avLst/>
            <a:gdLst/>
            <a:ahLst/>
            <a:cxnLst/>
            <a:rect l="l" t="t" r="r" b="b"/>
            <a:pathLst>
              <a:path w="1188720" h="1188720" extrusionOk="0">
                <a:moveTo>
                  <a:pt x="0" y="594360"/>
                </a:moveTo>
                <a:cubicBezTo>
                  <a:pt x="0" y="266065"/>
                  <a:pt x="266065" y="0"/>
                  <a:pt x="594360" y="0"/>
                </a:cubicBezTo>
                <a:cubicBezTo>
                  <a:pt x="922655" y="0"/>
                  <a:pt x="1188720" y="266065"/>
                  <a:pt x="1188720" y="594360"/>
                </a:cubicBezTo>
                <a:cubicBezTo>
                  <a:pt x="1188720" y="922655"/>
                  <a:pt x="922655" y="1188720"/>
                  <a:pt x="594360" y="1188720"/>
                </a:cubicBezTo>
                <a:cubicBezTo>
                  <a:pt x="266065" y="1188720"/>
                  <a:pt x="0" y="922528"/>
                  <a:pt x="0" y="59436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4" descr="icons/bullseye.png"/>
          <p:cNvSpPr/>
          <p:nvPr/>
        </p:nvSpPr>
        <p:spPr>
          <a:xfrm>
            <a:off x="1534820" y="3043580"/>
            <a:ext cx="427958" cy="427958"/>
          </a:xfrm>
          <a:custGeom>
            <a:avLst/>
            <a:gdLst/>
            <a:ahLst/>
            <a:cxnLst/>
            <a:rect l="l" t="t" r="r" b="b"/>
            <a:pathLst>
              <a:path w="570611" h="570611" extrusionOk="0">
                <a:moveTo>
                  <a:pt x="0" y="0"/>
                </a:moveTo>
                <a:lnTo>
                  <a:pt x="570611" y="0"/>
                </a:lnTo>
                <a:lnTo>
                  <a:pt x="570611" y="570611"/>
                </a:lnTo>
                <a:lnTo>
                  <a:pt x="0" y="570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r="4" b="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46" name="Google Shape;246;p4"/>
          <p:cNvGrpSpPr/>
          <p:nvPr/>
        </p:nvGrpSpPr>
        <p:grpSpPr>
          <a:xfrm>
            <a:off x="2457907" y="2488444"/>
            <a:ext cx="4114800" cy="439875"/>
            <a:chOff x="0" y="-38100"/>
            <a:chExt cx="5486400" cy="586500"/>
          </a:xfrm>
        </p:grpSpPr>
        <p:sp>
          <p:nvSpPr>
            <p:cNvPr id="247" name="Google Shape;247;p4"/>
            <p:cNvSpPr/>
            <p:nvPr/>
          </p:nvSpPr>
          <p:spPr>
            <a:xfrm>
              <a:off x="0" y="0"/>
              <a:ext cx="5486400" cy="548400"/>
            </a:xfrm>
            <a:custGeom>
              <a:avLst/>
              <a:gdLst/>
              <a:ahLst/>
              <a:cxnLst/>
              <a:rect l="l" t="t" r="r" b="b"/>
              <a:pathLst>
                <a:path w="5486400" h="54840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44932" b="-14493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8" name="Google Shape;248;p4"/>
            <p:cNvSpPr txBox="1"/>
            <p:nvPr/>
          </p:nvSpPr>
          <p:spPr>
            <a:xfrm>
              <a:off x="0" y="-38100"/>
              <a:ext cx="5486400" cy="586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DC3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Objetivo general</a:t>
              </a:r>
              <a:endParaRPr sz="2400" b="1">
                <a:solidFill>
                  <a:srgbClr val="FDC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9" name="Google Shape;249;p4"/>
          <p:cNvGrpSpPr/>
          <p:nvPr/>
        </p:nvGrpSpPr>
        <p:grpSpPr>
          <a:xfrm>
            <a:off x="2468880" y="2920746"/>
            <a:ext cx="13853251" cy="1396548"/>
            <a:chOff x="0" y="-47625"/>
            <a:chExt cx="18471000" cy="1862063"/>
          </a:xfrm>
        </p:grpSpPr>
        <p:sp>
          <p:nvSpPr>
            <p:cNvPr id="250" name="Google Shape;250;p4"/>
            <p:cNvSpPr/>
            <p:nvPr/>
          </p:nvSpPr>
          <p:spPr>
            <a:xfrm>
              <a:off x="0" y="0"/>
              <a:ext cx="18471000" cy="1814438"/>
            </a:xfrm>
            <a:custGeom>
              <a:avLst/>
              <a:gdLst/>
              <a:ahLst/>
              <a:cxnLst/>
              <a:rect l="l" t="t" r="r" b="b"/>
              <a:pathLst>
                <a:path w="18471000" h="1814438" extrusionOk="0">
                  <a:moveTo>
                    <a:pt x="0" y="0"/>
                  </a:moveTo>
                  <a:lnTo>
                    <a:pt x="18471000" y="0"/>
                  </a:lnTo>
                  <a:lnTo>
                    <a:pt x="18471000" y="1814438"/>
                  </a:lnTo>
                  <a:lnTo>
                    <a:pt x="0" y="1814438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64081" b="-13263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1" name="Google Shape;251;p4"/>
            <p:cNvSpPr txBox="1"/>
            <p:nvPr/>
          </p:nvSpPr>
          <p:spPr>
            <a:xfrm>
              <a:off x="0" y="-47625"/>
              <a:ext cx="18470994" cy="186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Desarrollar e implementar una plataforma web y móvil para la asistencia médica domiciliaria denominada Nurse, que conecte a pacientes con personal de enfermería certificado, garantizando la seguridad, confidencialidad, idoneidad profesional y el seguimiento oportuno de atenciones de salud en el hogar.</a:t>
              </a:r>
              <a:endParaRPr sz="21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52" name="Google Shape;252;p4"/>
          <p:cNvGrpSpPr/>
          <p:nvPr/>
        </p:nvGrpSpPr>
        <p:grpSpPr>
          <a:xfrm>
            <a:off x="822960" y="4346257"/>
            <a:ext cx="6858000" cy="523013"/>
            <a:chOff x="0" y="-57150"/>
            <a:chExt cx="9144000" cy="697350"/>
          </a:xfrm>
        </p:grpSpPr>
        <p:sp>
          <p:nvSpPr>
            <p:cNvPr id="253" name="Google Shape;253;p4"/>
            <p:cNvSpPr/>
            <p:nvPr/>
          </p:nvSpPr>
          <p:spPr>
            <a:xfrm>
              <a:off x="0" y="0"/>
              <a:ext cx="9144000" cy="640200"/>
            </a:xfrm>
            <a:custGeom>
              <a:avLst/>
              <a:gdLst/>
              <a:ahLst/>
              <a:cxnLst/>
              <a:rect l="l" t="t" r="r" b="b"/>
              <a:pathLst>
                <a:path w="9144000" h="640200" extrusionOk="0">
                  <a:moveTo>
                    <a:pt x="0" y="0"/>
                  </a:moveTo>
                  <a:lnTo>
                    <a:pt x="9144000" y="0"/>
                  </a:lnTo>
                  <a:lnTo>
                    <a:pt x="91440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228303" b="-22830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4" name="Google Shape;254;p4"/>
            <p:cNvSpPr txBox="1"/>
            <p:nvPr/>
          </p:nvSpPr>
          <p:spPr>
            <a:xfrm>
              <a:off x="0" y="-57150"/>
              <a:ext cx="9144000" cy="697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Objetivos específicos</a:t>
              </a:r>
              <a:endParaRPr sz="225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55" name="Google Shape;255;p4"/>
          <p:cNvSpPr/>
          <p:nvPr/>
        </p:nvSpPr>
        <p:spPr>
          <a:xfrm>
            <a:off x="822960" y="5006340"/>
            <a:ext cx="2940685" cy="3804297"/>
          </a:xfrm>
          <a:custGeom>
            <a:avLst/>
            <a:gdLst/>
            <a:ahLst/>
            <a:cxnLst/>
            <a:rect l="l" t="t" r="r" b="b"/>
            <a:pathLst>
              <a:path w="3920998" h="42978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3774694" y="0"/>
                </a:lnTo>
                <a:cubicBezTo>
                  <a:pt x="3855466" y="0"/>
                  <a:pt x="3920998" y="65532"/>
                  <a:pt x="3920998" y="146304"/>
                </a:cubicBezTo>
                <a:lnTo>
                  <a:pt x="3920998" y="4151503"/>
                </a:lnTo>
                <a:cubicBezTo>
                  <a:pt x="3920998" y="4232275"/>
                  <a:pt x="3855466" y="4297807"/>
                  <a:pt x="3774694" y="4297807"/>
                </a:cubicBezTo>
                <a:lnTo>
                  <a:pt x="146304" y="4297807"/>
                </a:lnTo>
                <a:cubicBezTo>
                  <a:pt x="65532" y="4297807"/>
                  <a:pt x="0" y="4232275"/>
                  <a:pt x="0" y="4151503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1950415" y="52806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4" descr="icons/clipboard.png"/>
          <p:cNvSpPr/>
          <p:nvPr/>
        </p:nvSpPr>
        <p:spPr>
          <a:xfrm>
            <a:off x="2128723" y="5458968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438912" h="438912" extrusionOk="0">
                <a:moveTo>
                  <a:pt x="0" y="0"/>
                </a:moveTo>
                <a:lnTo>
                  <a:pt x="438912" y="0"/>
                </a:lnTo>
                <a:lnTo>
                  <a:pt x="438912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58" name="Google Shape;258;p4"/>
          <p:cNvGrpSpPr/>
          <p:nvPr/>
        </p:nvGrpSpPr>
        <p:grpSpPr>
          <a:xfrm>
            <a:off x="960120" y="6143625"/>
            <a:ext cx="2666250" cy="782775"/>
            <a:chOff x="0" y="-38100"/>
            <a:chExt cx="3555000" cy="1043700"/>
          </a:xfrm>
        </p:grpSpPr>
        <p:sp>
          <p:nvSpPr>
            <p:cNvPr id="259" name="Google Shape;259;p4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 extrusionOk="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8884" b="-188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0" name="Google Shape;260;p4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Validar Síncronamente RETHUS:</a:t>
              </a:r>
              <a:endParaRPr sz="18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987425" y="6902380"/>
            <a:ext cx="2611124" cy="1999057"/>
            <a:chOff x="0" y="-19050"/>
            <a:chExt cx="3481800" cy="1573656"/>
          </a:xfrm>
        </p:grpSpPr>
        <p:sp>
          <p:nvSpPr>
            <p:cNvPr id="262" name="Google Shape;262;p4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 extrusionOk="0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l="-7286" r="-72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0" y="-19050"/>
              <a:ext cx="3481794" cy="1573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Consultar automáticamente el registro del Ministerio de Salud antes de activar una cuenta de enfermera.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64" name="Google Shape;264;p4"/>
          <p:cNvSpPr/>
          <p:nvPr/>
        </p:nvSpPr>
        <p:spPr>
          <a:xfrm>
            <a:off x="4065270" y="5006340"/>
            <a:ext cx="2940685" cy="3727461"/>
          </a:xfrm>
          <a:custGeom>
            <a:avLst/>
            <a:gdLst/>
            <a:ahLst/>
            <a:cxnLst/>
            <a:rect l="l" t="t" r="r" b="b"/>
            <a:pathLst>
              <a:path w="3920998" h="42978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3774694" y="0"/>
                </a:lnTo>
                <a:cubicBezTo>
                  <a:pt x="3855466" y="0"/>
                  <a:pt x="3920998" y="65532"/>
                  <a:pt x="3920998" y="146304"/>
                </a:cubicBezTo>
                <a:lnTo>
                  <a:pt x="3920998" y="4151503"/>
                </a:lnTo>
                <a:cubicBezTo>
                  <a:pt x="3920998" y="4232275"/>
                  <a:pt x="3855466" y="4297807"/>
                  <a:pt x="3774694" y="4297807"/>
                </a:cubicBezTo>
                <a:lnTo>
                  <a:pt x="146304" y="4297807"/>
                </a:lnTo>
                <a:cubicBezTo>
                  <a:pt x="65532" y="4297807"/>
                  <a:pt x="0" y="4232275"/>
                  <a:pt x="0" y="4151503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5192878" y="52806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66" name="Google Shape;266;p4"/>
          <p:cNvGrpSpPr/>
          <p:nvPr/>
        </p:nvGrpSpPr>
        <p:grpSpPr>
          <a:xfrm>
            <a:off x="4202582" y="6143625"/>
            <a:ext cx="2666250" cy="782775"/>
            <a:chOff x="0" y="-38100"/>
            <a:chExt cx="3555000" cy="1043700"/>
          </a:xfrm>
        </p:grpSpPr>
        <p:sp>
          <p:nvSpPr>
            <p:cNvPr id="267" name="Google Shape;267;p4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 extrusionOk="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8884" b="-188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Gestionar Pacientes Dependientes:</a:t>
              </a:r>
              <a:endParaRPr sz="18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4230014" y="6911975"/>
            <a:ext cx="2611349" cy="1551940"/>
            <a:chOff x="0" y="-19473"/>
            <a:chExt cx="3481800" cy="2069252"/>
          </a:xfrm>
        </p:grpSpPr>
        <p:sp>
          <p:nvSpPr>
            <p:cNvPr id="270" name="Google Shape;270;p4"/>
            <p:cNvSpPr/>
            <p:nvPr/>
          </p:nvSpPr>
          <p:spPr>
            <a:xfrm>
              <a:off x="0" y="0"/>
              <a:ext cx="3481800" cy="1554600"/>
            </a:xfrm>
            <a:custGeom>
              <a:avLst/>
              <a:gdLst/>
              <a:ahLst/>
              <a:cxnLst/>
              <a:rect l="l" t="t" r="r" b="b"/>
              <a:pathLst>
                <a:path w="3481800" h="1554600" extrusionOk="0">
                  <a:moveTo>
                    <a:pt x="0" y="0"/>
                  </a:moveTo>
                  <a:lnTo>
                    <a:pt x="3481800" y="0"/>
                  </a:lnTo>
                  <a:lnTo>
                    <a:pt x="3481800" y="1554600"/>
                  </a:lnTo>
                  <a:lnTo>
                    <a:pt x="0" y="1554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l="-7286" r="-72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0" y="-19473"/>
              <a:ext cx="3481494" cy="2069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Registrar condiciones médicas, restricciones y direcciones de atención bajo custodia de la enfermera.</a:t>
              </a:r>
              <a:endParaRPr sz="1575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72" name="Google Shape;272;p4"/>
          <p:cNvSpPr/>
          <p:nvPr/>
        </p:nvSpPr>
        <p:spPr>
          <a:xfrm>
            <a:off x="7307580" y="5006340"/>
            <a:ext cx="2940685" cy="3728096"/>
          </a:xfrm>
          <a:custGeom>
            <a:avLst/>
            <a:gdLst/>
            <a:ahLst/>
            <a:cxnLst/>
            <a:rect l="l" t="t" r="r" b="b"/>
            <a:pathLst>
              <a:path w="3920998" h="42978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3774694" y="0"/>
                </a:lnTo>
                <a:cubicBezTo>
                  <a:pt x="3855466" y="0"/>
                  <a:pt x="3920998" y="65532"/>
                  <a:pt x="3920998" y="146304"/>
                </a:cubicBezTo>
                <a:lnTo>
                  <a:pt x="3920998" y="4151503"/>
                </a:lnTo>
                <a:cubicBezTo>
                  <a:pt x="3920998" y="4232275"/>
                  <a:pt x="3855466" y="4297807"/>
                  <a:pt x="3774694" y="4297807"/>
                </a:cubicBezTo>
                <a:lnTo>
                  <a:pt x="146304" y="4297807"/>
                </a:lnTo>
                <a:cubicBezTo>
                  <a:pt x="65532" y="4297807"/>
                  <a:pt x="0" y="4232275"/>
                  <a:pt x="0" y="4151503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8435340" y="52806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4" descr="icons/cart.png"/>
          <p:cNvSpPr/>
          <p:nvPr/>
        </p:nvSpPr>
        <p:spPr>
          <a:xfrm>
            <a:off x="5368976" y="5458968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438912" h="438912" extrusionOk="0">
                <a:moveTo>
                  <a:pt x="0" y="0"/>
                </a:moveTo>
                <a:lnTo>
                  <a:pt x="438912" y="0"/>
                </a:lnTo>
                <a:lnTo>
                  <a:pt x="438912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4" descr="icons/boxes.png"/>
          <p:cNvSpPr/>
          <p:nvPr/>
        </p:nvSpPr>
        <p:spPr>
          <a:xfrm>
            <a:off x="8615896" y="5457345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438912" h="438912" extrusionOk="0">
                <a:moveTo>
                  <a:pt x="0" y="0"/>
                </a:moveTo>
                <a:lnTo>
                  <a:pt x="438912" y="0"/>
                </a:lnTo>
                <a:lnTo>
                  <a:pt x="438912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76" name="Google Shape;276;p4"/>
          <p:cNvGrpSpPr/>
          <p:nvPr/>
        </p:nvGrpSpPr>
        <p:grpSpPr>
          <a:xfrm>
            <a:off x="7445045" y="6143625"/>
            <a:ext cx="2666250" cy="782775"/>
            <a:chOff x="0" y="-38100"/>
            <a:chExt cx="3555000" cy="1043700"/>
          </a:xfrm>
        </p:grpSpPr>
        <p:sp>
          <p:nvSpPr>
            <p:cNvPr id="277" name="Google Shape;277;p4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 extrusionOk="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8884" b="-188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8" name="Google Shape;278;p4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Controlar Tratamientos y Dosificación:</a:t>
              </a:r>
              <a:endParaRPr sz="18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9" name="Google Shape;279;p4"/>
          <p:cNvGrpSpPr/>
          <p:nvPr/>
        </p:nvGrpSpPr>
        <p:grpSpPr>
          <a:xfrm>
            <a:off x="7472477" y="6912610"/>
            <a:ext cx="2611349" cy="1551305"/>
            <a:chOff x="0" y="-18627"/>
            <a:chExt cx="3481800" cy="2068407"/>
          </a:xfrm>
        </p:grpSpPr>
        <p:sp>
          <p:nvSpPr>
            <p:cNvPr id="280" name="Google Shape;280;p4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 extrusionOk="0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l="-7286" r="-72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1" name="Google Shape;281;p4"/>
            <p:cNvSpPr txBox="1"/>
            <p:nvPr/>
          </p:nvSpPr>
          <p:spPr>
            <a:xfrm>
              <a:off x="0" y="-18627"/>
              <a:ext cx="3481494" cy="2068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Configurar esquemas de medicamentos y disparar alertas de tomas en tiempo real.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82" name="Google Shape;282;p4"/>
          <p:cNvSpPr/>
          <p:nvPr/>
        </p:nvSpPr>
        <p:spPr>
          <a:xfrm>
            <a:off x="10550525" y="5006340"/>
            <a:ext cx="2940685" cy="3728731"/>
          </a:xfrm>
          <a:custGeom>
            <a:avLst/>
            <a:gdLst/>
            <a:ahLst/>
            <a:cxnLst/>
            <a:rect l="l" t="t" r="r" b="b"/>
            <a:pathLst>
              <a:path w="3920998" h="42978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3774694" y="0"/>
                </a:lnTo>
                <a:cubicBezTo>
                  <a:pt x="3855466" y="0"/>
                  <a:pt x="3920998" y="65532"/>
                  <a:pt x="3920998" y="146304"/>
                </a:cubicBezTo>
                <a:lnTo>
                  <a:pt x="3920998" y="4151503"/>
                </a:lnTo>
                <a:cubicBezTo>
                  <a:pt x="3920998" y="4232275"/>
                  <a:pt x="3855466" y="4297807"/>
                  <a:pt x="3774694" y="4297807"/>
                </a:cubicBezTo>
                <a:lnTo>
                  <a:pt x="146304" y="4297807"/>
                </a:lnTo>
                <a:cubicBezTo>
                  <a:pt x="65532" y="4297807"/>
                  <a:pt x="0" y="4232275"/>
                  <a:pt x="0" y="4151503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11677802" y="52806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4" descr="icons/mobile.png"/>
          <p:cNvSpPr/>
          <p:nvPr/>
        </p:nvSpPr>
        <p:spPr>
          <a:xfrm>
            <a:off x="11856110" y="5458968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438912" h="438912" extrusionOk="0">
                <a:moveTo>
                  <a:pt x="0" y="0"/>
                </a:moveTo>
                <a:lnTo>
                  <a:pt x="438912" y="0"/>
                </a:lnTo>
                <a:lnTo>
                  <a:pt x="438912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85" name="Google Shape;285;p4"/>
          <p:cNvGrpSpPr/>
          <p:nvPr/>
        </p:nvGrpSpPr>
        <p:grpSpPr>
          <a:xfrm>
            <a:off x="10687507" y="6143625"/>
            <a:ext cx="2666250" cy="782775"/>
            <a:chOff x="0" y="-38100"/>
            <a:chExt cx="3555000" cy="1043700"/>
          </a:xfrm>
        </p:grpSpPr>
        <p:sp>
          <p:nvSpPr>
            <p:cNvPr id="286" name="Google Shape;286;p4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 extrusionOk="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8884" b="-188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7" name="Google Shape;287;p4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Registrar Seguimiento Clínico:</a:t>
              </a:r>
              <a:endParaRPr sz="18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88" name="Google Shape;288;p4"/>
          <p:cNvGrpSpPr/>
          <p:nvPr/>
        </p:nvGrpSpPr>
        <p:grpSpPr>
          <a:xfrm>
            <a:off x="10714939" y="6912610"/>
            <a:ext cx="2611349" cy="1551940"/>
            <a:chOff x="0" y="-18627"/>
            <a:chExt cx="3481800" cy="2069253"/>
          </a:xfrm>
        </p:grpSpPr>
        <p:sp>
          <p:nvSpPr>
            <p:cNvPr id="289" name="Google Shape;289;p4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 extrusionOk="0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l="-7286" r="-72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0" name="Google Shape;290;p4"/>
            <p:cNvSpPr txBox="1"/>
            <p:nvPr/>
          </p:nvSpPr>
          <p:spPr>
            <a:xfrm>
              <a:off x="0" y="-18627"/>
              <a:ext cx="3481494" cy="2069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Almacenar la bitácora de signos vitales (presión, oxigenación, temperatura) tomados durante las visitas presenciales.</a:t>
              </a:r>
              <a:endParaRPr sz="1575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91" name="Google Shape;291;p4"/>
          <p:cNvSpPr/>
          <p:nvPr/>
        </p:nvSpPr>
        <p:spPr>
          <a:xfrm>
            <a:off x="13792835" y="5006340"/>
            <a:ext cx="2940685" cy="3727461"/>
          </a:xfrm>
          <a:custGeom>
            <a:avLst/>
            <a:gdLst/>
            <a:ahLst/>
            <a:cxnLst/>
            <a:rect l="l" t="t" r="r" b="b"/>
            <a:pathLst>
              <a:path w="3920998" h="42978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3774694" y="0"/>
                </a:lnTo>
                <a:cubicBezTo>
                  <a:pt x="3855466" y="0"/>
                  <a:pt x="3920998" y="65532"/>
                  <a:pt x="3920998" y="146304"/>
                </a:cubicBezTo>
                <a:lnTo>
                  <a:pt x="3920998" y="4151503"/>
                </a:lnTo>
                <a:cubicBezTo>
                  <a:pt x="3920998" y="4232275"/>
                  <a:pt x="3855466" y="4297807"/>
                  <a:pt x="3774694" y="4297807"/>
                </a:cubicBezTo>
                <a:lnTo>
                  <a:pt x="146304" y="4297807"/>
                </a:lnTo>
                <a:cubicBezTo>
                  <a:pt x="65532" y="4297807"/>
                  <a:pt x="0" y="4232275"/>
                  <a:pt x="0" y="4151503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14920265" y="52806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3" name="Google Shape;293;p4" descr="icons/leaf.png"/>
          <p:cNvSpPr/>
          <p:nvPr/>
        </p:nvSpPr>
        <p:spPr>
          <a:xfrm>
            <a:off x="15098573" y="5458968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438912" h="438912" extrusionOk="0">
                <a:moveTo>
                  <a:pt x="0" y="0"/>
                </a:moveTo>
                <a:lnTo>
                  <a:pt x="438912" y="0"/>
                </a:lnTo>
                <a:lnTo>
                  <a:pt x="438912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94" name="Google Shape;294;p4"/>
          <p:cNvGrpSpPr/>
          <p:nvPr/>
        </p:nvGrpSpPr>
        <p:grpSpPr>
          <a:xfrm>
            <a:off x="13929970" y="6143625"/>
            <a:ext cx="2666250" cy="782775"/>
            <a:chOff x="0" y="-38100"/>
            <a:chExt cx="3555000" cy="1043700"/>
          </a:xfrm>
        </p:grpSpPr>
        <p:sp>
          <p:nvSpPr>
            <p:cNvPr id="295" name="Google Shape;295;p4"/>
            <p:cNvSpPr/>
            <p:nvPr/>
          </p:nvSpPr>
          <p:spPr>
            <a:xfrm>
              <a:off x="0" y="0"/>
              <a:ext cx="3555000" cy="1005600"/>
            </a:xfrm>
            <a:custGeom>
              <a:avLst/>
              <a:gdLst/>
              <a:ahLst/>
              <a:cxnLst/>
              <a:rect l="l" t="t" r="r" b="b"/>
              <a:pathLst>
                <a:path w="3555000" h="1005600" extrusionOk="0">
                  <a:moveTo>
                    <a:pt x="0" y="0"/>
                  </a:moveTo>
                  <a:lnTo>
                    <a:pt x="3555000" y="0"/>
                  </a:lnTo>
                  <a:lnTo>
                    <a:pt x="3555000" y="1005600"/>
                  </a:lnTo>
                  <a:lnTo>
                    <a:pt x="0" y="1005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8884" b="-188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6" name="Google Shape;296;p4"/>
            <p:cNvSpPr txBox="1"/>
            <p:nvPr/>
          </p:nvSpPr>
          <p:spPr>
            <a:xfrm>
              <a:off x="0" y="-38100"/>
              <a:ext cx="3554997" cy="1043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Garantizar Persistencia Relacional 3NF:</a:t>
              </a:r>
              <a:endParaRPr sz="18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97" name="Google Shape;297;p4"/>
          <p:cNvGrpSpPr/>
          <p:nvPr/>
        </p:nvGrpSpPr>
        <p:grpSpPr>
          <a:xfrm>
            <a:off x="13971270" y="6908092"/>
            <a:ext cx="2611124" cy="1527254"/>
            <a:chOff x="0" y="-19050"/>
            <a:chExt cx="3481800" cy="1573656"/>
          </a:xfrm>
        </p:grpSpPr>
        <p:sp>
          <p:nvSpPr>
            <p:cNvPr id="298" name="Google Shape;298;p4"/>
            <p:cNvSpPr/>
            <p:nvPr/>
          </p:nvSpPr>
          <p:spPr>
            <a:xfrm>
              <a:off x="0" y="0"/>
              <a:ext cx="3481800" cy="1554606"/>
            </a:xfrm>
            <a:custGeom>
              <a:avLst/>
              <a:gdLst/>
              <a:ahLst/>
              <a:cxnLst/>
              <a:rect l="l" t="t" r="r" b="b"/>
              <a:pathLst>
                <a:path w="3481800" h="1554606" extrusionOk="0">
                  <a:moveTo>
                    <a:pt x="0" y="0"/>
                  </a:moveTo>
                  <a:lnTo>
                    <a:pt x="3481800" y="0"/>
                  </a:lnTo>
                  <a:lnTo>
                    <a:pt x="3481800" y="1554606"/>
                  </a:lnTo>
                  <a:lnTo>
                    <a:pt x="0" y="1554606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l="-7286" r="-72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9" name="Google Shape;299;p4"/>
            <p:cNvSpPr txBox="1"/>
            <p:nvPr/>
          </p:nvSpPr>
          <p:spPr>
            <a:xfrm>
              <a:off x="0" y="-19050"/>
              <a:ext cx="3481794" cy="1573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Diseñar una base de datos MySQL normalizada en Tercera Forma Normal con respaldos diarios automáticos.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09" name="Google Shape;309;p5"/>
          <p:cNvGrpSpPr/>
          <p:nvPr/>
        </p:nvGrpSpPr>
        <p:grpSpPr>
          <a:xfrm>
            <a:off x="822960" y="540353"/>
            <a:ext cx="13716000" cy="515873"/>
            <a:chOff x="0" y="-47625"/>
            <a:chExt cx="18288000" cy="687831"/>
          </a:xfrm>
        </p:grpSpPr>
        <p:sp>
          <p:nvSpPr>
            <p:cNvPr id="310" name="Google Shape;310;p5"/>
            <p:cNvSpPr/>
            <p:nvPr/>
          </p:nvSpPr>
          <p:spPr>
            <a:xfrm>
              <a:off x="0" y="0"/>
              <a:ext cx="18288000" cy="640206"/>
            </a:xfrm>
            <a:custGeom>
              <a:avLst/>
              <a:gdLst/>
              <a:ahLst/>
              <a:cxnLst/>
              <a:rect l="l" t="t" r="r" b="b"/>
              <a:pathLst>
                <a:path w="18288000" h="640206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640206"/>
                  </a:lnTo>
                  <a:lnTo>
                    <a:pt x="0" y="640206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506612" b="-50660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1" name="Google Shape;311;p5"/>
            <p:cNvSpPr txBox="1"/>
            <p:nvPr/>
          </p:nvSpPr>
          <p:spPr>
            <a:xfrm>
              <a:off x="0" y="-47625"/>
              <a:ext cx="18288000" cy="68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39A9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¿POR QUÉ ESTE PROYECTO DMI?</a:t>
              </a:r>
              <a:endParaRPr sz="1950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12" name="Google Shape;312;p5"/>
          <p:cNvGrpSpPr/>
          <p:nvPr/>
        </p:nvGrpSpPr>
        <p:grpSpPr>
          <a:xfrm>
            <a:off x="822960" y="987552"/>
            <a:ext cx="16184700" cy="1165951"/>
            <a:chOff x="0" y="0"/>
            <a:chExt cx="21579601" cy="1554600"/>
          </a:xfrm>
        </p:grpSpPr>
        <p:sp>
          <p:nvSpPr>
            <p:cNvPr id="313" name="Google Shape;313;p5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 extrusionOk="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20475" b="-22047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4" name="Google Shape;314;p5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>
                  <a:solidFill>
                    <a:srgbClr val="38AA00"/>
                  </a:solidFill>
                  <a:latin typeface="Work Sans"/>
                  <a:ea typeface="Work Sans"/>
                  <a:cs typeface="Work Sans"/>
                  <a:sym typeface="Work Sans"/>
                </a:rPr>
                <a:t>Justificación</a:t>
              </a:r>
              <a:endParaRPr sz="5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15" name="Google Shape;315;p5"/>
          <p:cNvGrpSpPr/>
          <p:nvPr/>
        </p:nvGrpSpPr>
        <p:grpSpPr>
          <a:xfrm>
            <a:off x="822960" y="2378582"/>
            <a:ext cx="15910651" cy="2408407"/>
            <a:chOff x="0" y="-47625"/>
            <a:chExt cx="21214200" cy="3211209"/>
          </a:xfrm>
        </p:grpSpPr>
        <p:sp>
          <p:nvSpPr>
            <p:cNvPr id="316" name="Google Shape;316;p5"/>
            <p:cNvSpPr/>
            <p:nvPr/>
          </p:nvSpPr>
          <p:spPr>
            <a:xfrm>
              <a:off x="0" y="0"/>
              <a:ext cx="21214200" cy="3163569"/>
            </a:xfrm>
            <a:custGeom>
              <a:avLst/>
              <a:gdLst/>
              <a:ahLst/>
              <a:cxnLst/>
              <a:rect l="l" t="t" r="r" b="b"/>
              <a:pathLst>
                <a:path w="21214200" h="3163569" extrusionOk="0">
                  <a:moveTo>
                    <a:pt x="0" y="0"/>
                  </a:moveTo>
                  <a:lnTo>
                    <a:pt x="21214200" y="0"/>
                  </a:lnTo>
                  <a:lnTo>
                    <a:pt x="21214200" y="3163569"/>
                  </a:lnTo>
                  <a:lnTo>
                    <a:pt x="0" y="3163569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11874" b="-4944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7" name="Google Shape;317;p5"/>
            <p:cNvSpPr txBox="1"/>
            <p:nvPr/>
          </p:nvSpPr>
          <p:spPr>
            <a:xfrm>
              <a:off x="0" y="-47625"/>
              <a:ext cx="21214194" cy="32112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22292E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DMI se justifica por la necesidad de modernizar la gestión de talleres automotrices, facilitando el registro de vehículos, la programación de citas y el control de inventario para mejorar la organización y atención al cliente.</a:t>
              </a:r>
              <a:endParaRPr sz="2100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18" name="Google Shape;318;p5"/>
          <p:cNvSpPr/>
          <p:nvPr/>
        </p:nvSpPr>
        <p:spPr>
          <a:xfrm>
            <a:off x="822960" y="3634740"/>
            <a:ext cx="5239321" cy="2537556"/>
          </a:xfrm>
          <a:custGeom>
            <a:avLst/>
            <a:gdLst/>
            <a:ahLst/>
            <a:cxnLst/>
            <a:rect l="l" t="t" r="r" b="b"/>
            <a:pathLst>
              <a:path w="6985762" h="33834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839458" y="0"/>
                </a:lnTo>
                <a:cubicBezTo>
                  <a:pt x="6920230" y="0"/>
                  <a:pt x="6985762" y="65532"/>
                  <a:pt x="6985762" y="146304"/>
                </a:cubicBezTo>
                <a:lnTo>
                  <a:pt x="6985762" y="3237103"/>
                </a:lnTo>
                <a:cubicBezTo>
                  <a:pt x="6985762" y="3317875"/>
                  <a:pt x="6920230" y="3383407"/>
                  <a:pt x="6839458" y="3383407"/>
                </a:cubicBezTo>
                <a:lnTo>
                  <a:pt x="146304" y="3383407"/>
                </a:lnTo>
                <a:cubicBezTo>
                  <a:pt x="65532" y="3383407"/>
                  <a:pt x="0" y="3317875"/>
                  <a:pt x="0" y="3237103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3017520" y="3936492"/>
            <a:ext cx="850487" cy="850487"/>
          </a:xfrm>
          <a:custGeom>
            <a:avLst/>
            <a:gdLst/>
            <a:ahLst/>
            <a:cxnLst/>
            <a:rect l="l" t="t" r="r" b="b"/>
            <a:pathLst>
              <a:path w="1133983" h="1133983" extrusionOk="0">
                <a:moveTo>
                  <a:pt x="0" y="567055"/>
                </a:moveTo>
                <a:cubicBezTo>
                  <a:pt x="0" y="253873"/>
                  <a:pt x="253873" y="0"/>
                  <a:pt x="567055" y="0"/>
                </a:cubicBezTo>
                <a:cubicBezTo>
                  <a:pt x="880237" y="0"/>
                  <a:pt x="1133983" y="253873"/>
                  <a:pt x="1133983" y="567055"/>
                </a:cubicBezTo>
                <a:cubicBezTo>
                  <a:pt x="1133983" y="880237"/>
                  <a:pt x="880110" y="1133983"/>
                  <a:pt x="567055" y="1133983"/>
                </a:cubicBezTo>
                <a:cubicBezTo>
                  <a:pt x="254000" y="1133983"/>
                  <a:pt x="0" y="880110"/>
                  <a:pt x="0" y="56705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0" name="Google Shape;320;p5" descr="icons/cogs.png"/>
          <p:cNvSpPr/>
          <p:nvPr/>
        </p:nvSpPr>
        <p:spPr>
          <a:xfrm>
            <a:off x="3238624" y="4157596"/>
            <a:ext cx="408146" cy="408146"/>
          </a:xfrm>
          <a:custGeom>
            <a:avLst/>
            <a:gdLst/>
            <a:ahLst/>
            <a:cxnLst/>
            <a:rect l="l" t="t" r="r" b="b"/>
            <a:pathLst>
              <a:path w="544195" h="544195" extrusionOk="0">
                <a:moveTo>
                  <a:pt x="0" y="0"/>
                </a:moveTo>
                <a:lnTo>
                  <a:pt x="544195" y="0"/>
                </a:lnTo>
                <a:lnTo>
                  <a:pt x="544195" y="544195"/>
                </a:lnTo>
                <a:lnTo>
                  <a:pt x="0" y="544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-9" b="-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21" name="Google Shape;321;p5"/>
          <p:cNvGrpSpPr/>
          <p:nvPr/>
        </p:nvGrpSpPr>
        <p:grpSpPr>
          <a:xfrm>
            <a:off x="1028700" y="4943189"/>
            <a:ext cx="4828051" cy="515869"/>
            <a:chOff x="0" y="-47625"/>
            <a:chExt cx="6437401" cy="687825"/>
          </a:xfrm>
        </p:grpSpPr>
        <p:sp>
          <p:nvSpPr>
            <p:cNvPr id="322" name="Google Shape;322;p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45925" b="-14592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3" name="Google Shape;323;p5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Modernizar la gestión</a:t>
              </a:r>
              <a:endParaRPr sz="195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24" name="Google Shape;324;p5"/>
          <p:cNvGrpSpPr/>
          <p:nvPr/>
        </p:nvGrpSpPr>
        <p:grpSpPr>
          <a:xfrm>
            <a:off x="1028700" y="5430965"/>
            <a:ext cx="4828051" cy="700088"/>
            <a:chOff x="0" y="-19050"/>
            <a:chExt cx="6437401" cy="933450"/>
          </a:xfrm>
        </p:grpSpPr>
        <p:sp>
          <p:nvSpPr>
            <p:cNvPr id="325" name="Google Shape;325;p5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87174" b="-8717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6" name="Google Shape;326;p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Organizar historias clínicas básicas, tratamientos e historial de visitas.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5B667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27" name="Google Shape;327;p5"/>
          <p:cNvSpPr/>
          <p:nvPr/>
        </p:nvSpPr>
        <p:spPr>
          <a:xfrm>
            <a:off x="6501384" y="3634740"/>
            <a:ext cx="5239322" cy="2537556"/>
          </a:xfrm>
          <a:custGeom>
            <a:avLst/>
            <a:gdLst/>
            <a:ahLst/>
            <a:cxnLst/>
            <a:rect l="l" t="t" r="r" b="b"/>
            <a:pathLst>
              <a:path w="6985762" h="33834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839458" y="0"/>
                </a:lnTo>
                <a:cubicBezTo>
                  <a:pt x="6920230" y="0"/>
                  <a:pt x="6985762" y="65532"/>
                  <a:pt x="6985762" y="146304"/>
                </a:cubicBezTo>
                <a:lnTo>
                  <a:pt x="6985762" y="3237103"/>
                </a:lnTo>
                <a:cubicBezTo>
                  <a:pt x="6985762" y="3317875"/>
                  <a:pt x="6920230" y="3383407"/>
                  <a:pt x="6839458" y="3383407"/>
                </a:cubicBezTo>
                <a:lnTo>
                  <a:pt x="146304" y="3383407"/>
                </a:lnTo>
                <a:cubicBezTo>
                  <a:pt x="65532" y="3383407"/>
                  <a:pt x="0" y="3317875"/>
                  <a:pt x="0" y="3237103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8695944" y="3936492"/>
            <a:ext cx="850487" cy="850487"/>
          </a:xfrm>
          <a:custGeom>
            <a:avLst/>
            <a:gdLst/>
            <a:ahLst/>
            <a:cxnLst/>
            <a:rect l="l" t="t" r="r" b="b"/>
            <a:pathLst>
              <a:path w="1133983" h="1133983" extrusionOk="0">
                <a:moveTo>
                  <a:pt x="0" y="567055"/>
                </a:moveTo>
                <a:cubicBezTo>
                  <a:pt x="0" y="253873"/>
                  <a:pt x="253873" y="0"/>
                  <a:pt x="567055" y="0"/>
                </a:cubicBezTo>
                <a:cubicBezTo>
                  <a:pt x="880237" y="0"/>
                  <a:pt x="1133983" y="253873"/>
                  <a:pt x="1133983" y="567055"/>
                </a:cubicBezTo>
                <a:cubicBezTo>
                  <a:pt x="1133983" y="880237"/>
                  <a:pt x="880110" y="1133983"/>
                  <a:pt x="567055" y="1133983"/>
                </a:cubicBezTo>
                <a:cubicBezTo>
                  <a:pt x="254000" y="1133983"/>
                  <a:pt x="0" y="880110"/>
                  <a:pt x="0" y="56705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9" name="Google Shape;329;p5" descr="icons/check.png"/>
          <p:cNvSpPr/>
          <p:nvPr/>
        </p:nvSpPr>
        <p:spPr>
          <a:xfrm>
            <a:off x="8917048" y="4157596"/>
            <a:ext cx="408146" cy="408146"/>
          </a:xfrm>
          <a:custGeom>
            <a:avLst/>
            <a:gdLst/>
            <a:ahLst/>
            <a:cxnLst/>
            <a:rect l="l" t="t" r="r" b="b"/>
            <a:pathLst>
              <a:path w="544195" h="544195" extrusionOk="0">
                <a:moveTo>
                  <a:pt x="0" y="0"/>
                </a:moveTo>
                <a:lnTo>
                  <a:pt x="544195" y="0"/>
                </a:lnTo>
                <a:lnTo>
                  <a:pt x="544195" y="544195"/>
                </a:lnTo>
                <a:lnTo>
                  <a:pt x="0" y="544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r="-9" b="-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30" name="Google Shape;330;p5"/>
          <p:cNvGrpSpPr/>
          <p:nvPr/>
        </p:nvGrpSpPr>
        <p:grpSpPr>
          <a:xfrm>
            <a:off x="6707124" y="4943189"/>
            <a:ext cx="4828051" cy="515869"/>
            <a:chOff x="0" y="-47625"/>
            <a:chExt cx="6437401" cy="687825"/>
          </a:xfrm>
        </p:grpSpPr>
        <p:sp>
          <p:nvSpPr>
            <p:cNvPr id="331" name="Google Shape;331;p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45925" b="-14592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2" name="Google Shape;332;p5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Reducir errores</a:t>
              </a:r>
              <a:endParaRPr sz="195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33" name="Google Shape;333;p5"/>
          <p:cNvGrpSpPr/>
          <p:nvPr/>
        </p:nvGrpSpPr>
        <p:grpSpPr>
          <a:xfrm>
            <a:off x="6707124" y="5430965"/>
            <a:ext cx="4828051" cy="700088"/>
            <a:chOff x="0" y="-19050"/>
            <a:chExt cx="6437401" cy="933450"/>
          </a:xfrm>
        </p:grpSpPr>
        <p:sp>
          <p:nvSpPr>
            <p:cNvPr id="334" name="Google Shape;334;p5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87174" b="-8717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5" name="Google Shape;335;p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Validación síncrona obligatoria en RETHUS para erradicar el intrusismo.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5B667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36" name="Google Shape;336;p5"/>
          <p:cNvSpPr/>
          <p:nvPr/>
        </p:nvSpPr>
        <p:spPr>
          <a:xfrm>
            <a:off x="12179808" y="3634740"/>
            <a:ext cx="5239321" cy="2537556"/>
          </a:xfrm>
          <a:custGeom>
            <a:avLst/>
            <a:gdLst/>
            <a:ahLst/>
            <a:cxnLst/>
            <a:rect l="l" t="t" r="r" b="b"/>
            <a:pathLst>
              <a:path w="6985762" h="33834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839458" y="0"/>
                </a:lnTo>
                <a:cubicBezTo>
                  <a:pt x="6920230" y="0"/>
                  <a:pt x="6985762" y="65532"/>
                  <a:pt x="6985762" y="146304"/>
                </a:cubicBezTo>
                <a:lnTo>
                  <a:pt x="6985762" y="3237103"/>
                </a:lnTo>
                <a:cubicBezTo>
                  <a:pt x="6985762" y="3317875"/>
                  <a:pt x="6920230" y="3383407"/>
                  <a:pt x="6839458" y="3383407"/>
                </a:cubicBezTo>
                <a:lnTo>
                  <a:pt x="146304" y="3383407"/>
                </a:lnTo>
                <a:cubicBezTo>
                  <a:pt x="65532" y="3383407"/>
                  <a:pt x="0" y="3317875"/>
                  <a:pt x="0" y="3237103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14374368" y="3936492"/>
            <a:ext cx="850487" cy="850487"/>
          </a:xfrm>
          <a:custGeom>
            <a:avLst/>
            <a:gdLst/>
            <a:ahLst/>
            <a:cxnLst/>
            <a:rect l="l" t="t" r="r" b="b"/>
            <a:pathLst>
              <a:path w="1133983" h="1133983" extrusionOk="0">
                <a:moveTo>
                  <a:pt x="0" y="567055"/>
                </a:moveTo>
                <a:cubicBezTo>
                  <a:pt x="0" y="253873"/>
                  <a:pt x="253873" y="0"/>
                  <a:pt x="567055" y="0"/>
                </a:cubicBezTo>
                <a:cubicBezTo>
                  <a:pt x="880237" y="0"/>
                  <a:pt x="1133983" y="253873"/>
                  <a:pt x="1133983" y="567055"/>
                </a:cubicBezTo>
                <a:cubicBezTo>
                  <a:pt x="1133983" y="880237"/>
                  <a:pt x="880110" y="1133983"/>
                  <a:pt x="567055" y="1133983"/>
                </a:cubicBezTo>
                <a:cubicBezTo>
                  <a:pt x="254000" y="1133983"/>
                  <a:pt x="0" y="880110"/>
                  <a:pt x="0" y="56705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8" name="Google Shape;338;p5" descr="icons/mobile.png"/>
          <p:cNvSpPr/>
          <p:nvPr/>
        </p:nvSpPr>
        <p:spPr>
          <a:xfrm>
            <a:off x="14595472" y="4157596"/>
            <a:ext cx="408146" cy="408146"/>
          </a:xfrm>
          <a:custGeom>
            <a:avLst/>
            <a:gdLst/>
            <a:ahLst/>
            <a:cxnLst/>
            <a:rect l="l" t="t" r="r" b="b"/>
            <a:pathLst>
              <a:path w="544195" h="544195" extrusionOk="0">
                <a:moveTo>
                  <a:pt x="0" y="0"/>
                </a:moveTo>
                <a:lnTo>
                  <a:pt x="544195" y="0"/>
                </a:lnTo>
                <a:lnTo>
                  <a:pt x="544195" y="544195"/>
                </a:lnTo>
                <a:lnTo>
                  <a:pt x="0" y="544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r="-9" b="-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39" name="Google Shape;339;p5"/>
          <p:cNvGrpSpPr/>
          <p:nvPr/>
        </p:nvGrpSpPr>
        <p:grpSpPr>
          <a:xfrm>
            <a:off x="12385548" y="4943189"/>
            <a:ext cx="4828051" cy="515869"/>
            <a:chOff x="0" y="-47625"/>
            <a:chExt cx="6437401" cy="687825"/>
          </a:xfrm>
        </p:grpSpPr>
        <p:sp>
          <p:nvSpPr>
            <p:cNvPr id="340" name="Google Shape;340;p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45925" b="-14592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1" name="Google Shape;341;p5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Verificar Informacion</a:t>
              </a:r>
              <a:endParaRPr sz="195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5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42" name="Google Shape;342;p5"/>
          <p:cNvGrpSpPr/>
          <p:nvPr/>
        </p:nvGrpSpPr>
        <p:grpSpPr>
          <a:xfrm>
            <a:off x="12385548" y="5430965"/>
            <a:ext cx="4828051" cy="700088"/>
            <a:chOff x="0" y="-19050"/>
            <a:chExt cx="6437401" cy="933450"/>
          </a:xfrm>
        </p:grpSpPr>
        <p:sp>
          <p:nvSpPr>
            <p:cNvPr id="343" name="Google Shape;343;p5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87174" b="-8717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4" name="Google Shape;344;p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La enfermera opera la app en campo; el paciente no requiere manejar claves.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5B667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45" name="Google Shape;345;p5"/>
          <p:cNvSpPr/>
          <p:nvPr/>
        </p:nvSpPr>
        <p:spPr>
          <a:xfrm>
            <a:off x="822960" y="6556248"/>
            <a:ext cx="5239321" cy="2537556"/>
          </a:xfrm>
          <a:custGeom>
            <a:avLst/>
            <a:gdLst/>
            <a:ahLst/>
            <a:cxnLst/>
            <a:rect l="l" t="t" r="r" b="b"/>
            <a:pathLst>
              <a:path w="6985762" h="33834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839458" y="0"/>
                </a:lnTo>
                <a:cubicBezTo>
                  <a:pt x="6920230" y="0"/>
                  <a:pt x="6985762" y="65532"/>
                  <a:pt x="6985762" y="146304"/>
                </a:cubicBezTo>
                <a:lnTo>
                  <a:pt x="6985762" y="3237103"/>
                </a:lnTo>
                <a:cubicBezTo>
                  <a:pt x="6985762" y="3317875"/>
                  <a:pt x="6920230" y="3383407"/>
                  <a:pt x="6839458" y="3383407"/>
                </a:cubicBezTo>
                <a:lnTo>
                  <a:pt x="146304" y="3383407"/>
                </a:lnTo>
                <a:cubicBezTo>
                  <a:pt x="65532" y="3383407"/>
                  <a:pt x="0" y="3317875"/>
                  <a:pt x="0" y="3237103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6" name="Google Shape;346;p5"/>
          <p:cNvSpPr/>
          <p:nvPr/>
        </p:nvSpPr>
        <p:spPr>
          <a:xfrm>
            <a:off x="3017520" y="6858000"/>
            <a:ext cx="850487" cy="850487"/>
          </a:xfrm>
          <a:custGeom>
            <a:avLst/>
            <a:gdLst/>
            <a:ahLst/>
            <a:cxnLst/>
            <a:rect l="l" t="t" r="r" b="b"/>
            <a:pathLst>
              <a:path w="1133983" h="1133983" extrusionOk="0">
                <a:moveTo>
                  <a:pt x="0" y="567055"/>
                </a:moveTo>
                <a:cubicBezTo>
                  <a:pt x="0" y="253873"/>
                  <a:pt x="253873" y="0"/>
                  <a:pt x="567055" y="0"/>
                </a:cubicBezTo>
                <a:cubicBezTo>
                  <a:pt x="880237" y="0"/>
                  <a:pt x="1133983" y="253873"/>
                  <a:pt x="1133983" y="567055"/>
                </a:cubicBezTo>
                <a:cubicBezTo>
                  <a:pt x="1133983" y="880237"/>
                  <a:pt x="880110" y="1133983"/>
                  <a:pt x="567055" y="1133983"/>
                </a:cubicBezTo>
                <a:cubicBezTo>
                  <a:pt x="254000" y="1133983"/>
                  <a:pt x="0" y="880110"/>
                  <a:pt x="0" y="56705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7" name="Google Shape;347;p5" descr="icons/leaf.png"/>
          <p:cNvSpPr/>
          <p:nvPr/>
        </p:nvSpPr>
        <p:spPr>
          <a:xfrm>
            <a:off x="3238624" y="7079104"/>
            <a:ext cx="408146" cy="408146"/>
          </a:xfrm>
          <a:custGeom>
            <a:avLst/>
            <a:gdLst/>
            <a:ahLst/>
            <a:cxnLst/>
            <a:rect l="l" t="t" r="r" b="b"/>
            <a:pathLst>
              <a:path w="544195" h="544195" extrusionOk="0">
                <a:moveTo>
                  <a:pt x="0" y="0"/>
                </a:moveTo>
                <a:lnTo>
                  <a:pt x="544195" y="0"/>
                </a:lnTo>
                <a:lnTo>
                  <a:pt x="544195" y="544195"/>
                </a:lnTo>
                <a:lnTo>
                  <a:pt x="0" y="544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r="-9" b="-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48" name="Google Shape;348;p5"/>
          <p:cNvGrpSpPr/>
          <p:nvPr/>
        </p:nvGrpSpPr>
        <p:grpSpPr>
          <a:xfrm>
            <a:off x="1028700" y="7864697"/>
            <a:ext cx="4828051" cy="515869"/>
            <a:chOff x="0" y="-47625"/>
            <a:chExt cx="6437401" cy="687825"/>
          </a:xfrm>
        </p:grpSpPr>
        <p:sp>
          <p:nvSpPr>
            <p:cNvPr id="349" name="Google Shape;349;p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45925" b="-14592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0" name="Google Shape;350;p5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Hbeas data</a:t>
              </a:r>
              <a:endParaRPr sz="195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5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51" name="Google Shape;351;p5"/>
          <p:cNvGrpSpPr/>
          <p:nvPr/>
        </p:nvGrpSpPr>
        <p:grpSpPr>
          <a:xfrm>
            <a:off x="1028700" y="8352473"/>
            <a:ext cx="4828051" cy="700088"/>
            <a:chOff x="0" y="-19050"/>
            <a:chExt cx="6437401" cy="933450"/>
          </a:xfrm>
        </p:grpSpPr>
        <p:sp>
          <p:nvSpPr>
            <p:cNvPr id="352" name="Google Shape;352;p5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87174" b="-8717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3" name="Google Shape;353;p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Cifrado y blindaje de información sensible de salud en Colombia</a:t>
              </a:r>
              <a:endParaRPr sz="1575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5B667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54" name="Google Shape;354;p5"/>
          <p:cNvSpPr/>
          <p:nvPr/>
        </p:nvSpPr>
        <p:spPr>
          <a:xfrm>
            <a:off x="6501384" y="6556248"/>
            <a:ext cx="5239322" cy="2537556"/>
          </a:xfrm>
          <a:custGeom>
            <a:avLst/>
            <a:gdLst/>
            <a:ahLst/>
            <a:cxnLst/>
            <a:rect l="l" t="t" r="r" b="b"/>
            <a:pathLst>
              <a:path w="6985762" h="33834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839458" y="0"/>
                </a:lnTo>
                <a:cubicBezTo>
                  <a:pt x="6920230" y="0"/>
                  <a:pt x="6985762" y="65532"/>
                  <a:pt x="6985762" y="146304"/>
                </a:cubicBezTo>
                <a:lnTo>
                  <a:pt x="6985762" y="3237103"/>
                </a:lnTo>
                <a:cubicBezTo>
                  <a:pt x="6985762" y="3317875"/>
                  <a:pt x="6920230" y="3383407"/>
                  <a:pt x="6839458" y="3383407"/>
                </a:cubicBezTo>
                <a:lnTo>
                  <a:pt x="146304" y="3383407"/>
                </a:lnTo>
                <a:cubicBezTo>
                  <a:pt x="65532" y="3383407"/>
                  <a:pt x="0" y="3317875"/>
                  <a:pt x="0" y="3237103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8695944" y="6858000"/>
            <a:ext cx="850487" cy="850487"/>
          </a:xfrm>
          <a:custGeom>
            <a:avLst/>
            <a:gdLst/>
            <a:ahLst/>
            <a:cxnLst/>
            <a:rect l="l" t="t" r="r" b="b"/>
            <a:pathLst>
              <a:path w="1133983" h="1133983" extrusionOk="0">
                <a:moveTo>
                  <a:pt x="0" y="567055"/>
                </a:moveTo>
                <a:cubicBezTo>
                  <a:pt x="0" y="253873"/>
                  <a:pt x="253873" y="0"/>
                  <a:pt x="567055" y="0"/>
                </a:cubicBezTo>
                <a:cubicBezTo>
                  <a:pt x="880237" y="0"/>
                  <a:pt x="1133983" y="253873"/>
                  <a:pt x="1133983" y="567055"/>
                </a:cubicBezTo>
                <a:cubicBezTo>
                  <a:pt x="1133983" y="880237"/>
                  <a:pt x="880110" y="1133983"/>
                  <a:pt x="567055" y="1133983"/>
                </a:cubicBezTo>
                <a:cubicBezTo>
                  <a:pt x="254000" y="1133983"/>
                  <a:pt x="0" y="880110"/>
                  <a:pt x="0" y="56705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6" name="Google Shape;356;p5" descr="icons/chart.png"/>
          <p:cNvSpPr/>
          <p:nvPr/>
        </p:nvSpPr>
        <p:spPr>
          <a:xfrm>
            <a:off x="8917048" y="7079104"/>
            <a:ext cx="408146" cy="408146"/>
          </a:xfrm>
          <a:custGeom>
            <a:avLst/>
            <a:gdLst/>
            <a:ahLst/>
            <a:cxnLst/>
            <a:rect l="l" t="t" r="r" b="b"/>
            <a:pathLst>
              <a:path w="544195" h="544195" extrusionOk="0">
                <a:moveTo>
                  <a:pt x="0" y="0"/>
                </a:moveTo>
                <a:lnTo>
                  <a:pt x="544195" y="0"/>
                </a:lnTo>
                <a:lnTo>
                  <a:pt x="544195" y="544195"/>
                </a:lnTo>
                <a:lnTo>
                  <a:pt x="0" y="544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r="-9" b="-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57" name="Google Shape;357;p5"/>
          <p:cNvGrpSpPr/>
          <p:nvPr/>
        </p:nvGrpSpPr>
        <p:grpSpPr>
          <a:xfrm>
            <a:off x="6707124" y="7864697"/>
            <a:ext cx="4828051" cy="515869"/>
            <a:chOff x="0" y="-47625"/>
            <a:chExt cx="6437401" cy="687825"/>
          </a:xfrm>
        </p:grpSpPr>
        <p:sp>
          <p:nvSpPr>
            <p:cNvPr id="358" name="Google Shape;358;p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45925" b="-14592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9" name="Google Shape;359;p5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Control de Agendas</a:t>
              </a:r>
              <a:endParaRPr sz="195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5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60" name="Google Shape;360;p5"/>
          <p:cNvGrpSpPr/>
          <p:nvPr/>
        </p:nvGrpSpPr>
        <p:grpSpPr>
          <a:xfrm>
            <a:off x="6707124" y="8352473"/>
            <a:ext cx="4828051" cy="700088"/>
            <a:chOff x="0" y="-19050"/>
            <a:chExt cx="6437401" cy="933450"/>
          </a:xfrm>
        </p:grpSpPr>
        <p:sp>
          <p:nvSpPr>
            <p:cNvPr id="361" name="Google Shape;361;p5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87174" b="-8717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62" name="Google Shape;362;p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Prevención automática de solapamiento de horarios en servicios domiciliarios.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5B667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63" name="Google Shape;363;p5"/>
          <p:cNvSpPr/>
          <p:nvPr/>
        </p:nvSpPr>
        <p:spPr>
          <a:xfrm>
            <a:off x="12179808" y="6556248"/>
            <a:ext cx="5239321" cy="2537556"/>
          </a:xfrm>
          <a:custGeom>
            <a:avLst/>
            <a:gdLst/>
            <a:ahLst/>
            <a:cxnLst/>
            <a:rect l="l" t="t" r="r" b="b"/>
            <a:pathLst>
              <a:path w="6985762" h="3383407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839458" y="0"/>
                </a:lnTo>
                <a:cubicBezTo>
                  <a:pt x="6920230" y="0"/>
                  <a:pt x="6985762" y="65532"/>
                  <a:pt x="6985762" y="146304"/>
                </a:cubicBezTo>
                <a:lnTo>
                  <a:pt x="6985762" y="3237103"/>
                </a:lnTo>
                <a:cubicBezTo>
                  <a:pt x="6985762" y="3317875"/>
                  <a:pt x="6920230" y="3383407"/>
                  <a:pt x="6839458" y="3383407"/>
                </a:cubicBezTo>
                <a:lnTo>
                  <a:pt x="146304" y="3383407"/>
                </a:lnTo>
                <a:cubicBezTo>
                  <a:pt x="65532" y="3383407"/>
                  <a:pt x="0" y="3317875"/>
                  <a:pt x="0" y="3237103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4" name="Google Shape;364;p5"/>
          <p:cNvSpPr/>
          <p:nvPr/>
        </p:nvSpPr>
        <p:spPr>
          <a:xfrm>
            <a:off x="14374368" y="6858000"/>
            <a:ext cx="850487" cy="850487"/>
          </a:xfrm>
          <a:custGeom>
            <a:avLst/>
            <a:gdLst/>
            <a:ahLst/>
            <a:cxnLst/>
            <a:rect l="l" t="t" r="r" b="b"/>
            <a:pathLst>
              <a:path w="1133983" h="1133983" extrusionOk="0">
                <a:moveTo>
                  <a:pt x="0" y="567055"/>
                </a:moveTo>
                <a:cubicBezTo>
                  <a:pt x="0" y="253873"/>
                  <a:pt x="253873" y="0"/>
                  <a:pt x="567055" y="0"/>
                </a:cubicBezTo>
                <a:cubicBezTo>
                  <a:pt x="880237" y="0"/>
                  <a:pt x="1133983" y="253873"/>
                  <a:pt x="1133983" y="567055"/>
                </a:cubicBezTo>
                <a:cubicBezTo>
                  <a:pt x="1133983" y="880237"/>
                  <a:pt x="880110" y="1133983"/>
                  <a:pt x="567055" y="1133983"/>
                </a:cubicBezTo>
                <a:cubicBezTo>
                  <a:pt x="254000" y="1133983"/>
                  <a:pt x="0" y="880110"/>
                  <a:pt x="0" y="567055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5" name="Google Shape;365;p5" descr="icons/shield.png"/>
          <p:cNvSpPr/>
          <p:nvPr/>
        </p:nvSpPr>
        <p:spPr>
          <a:xfrm>
            <a:off x="14595472" y="7079104"/>
            <a:ext cx="408146" cy="408146"/>
          </a:xfrm>
          <a:custGeom>
            <a:avLst/>
            <a:gdLst/>
            <a:ahLst/>
            <a:cxnLst/>
            <a:rect l="l" t="t" r="r" b="b"/>
            <a:pathLst>
              <a:path w="544195" h="544195" extrusionOk="0">
                <a:moveTo>
                  <a:pt x="0" y="0"/>
                </a:moveTo>
                <a:lnTo>
                  <a:pt x="544195" y="0"/>
                </a:lnTo>
                <a:lnTo>
                  <a:pt x="544195" y="544195"/>
                </a:lnTo>
                <a:lnTo>
                  <a:pt x="0" y="544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r="-9" b="-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66" name="Google Shape;366;p5"/>
          <p:cNvGrpSpPr/>
          <p:nvPr/>
        </p:nvGrpSpPr>
        <p:grpSpPr>
          <a:xfrm>
            <a:off x="12385548" y="7864697"/>
            <a:ext cx="4828051" cy="515869"/>
            <a:chOff x="0" y="-47625"/>
            <a:chExt cx="6437401" cy="687825"/>
          </a:xfrm>
        </p:grpSpPr>
        <p:sp>
          <p:nvSpPr>
            <p:cNvPr id="367" name="Google Shape;367;p5"/>
            <p:cNvSpPr/>
            <p:nvPr/>
          </p:nvSpPr>
          <p:spPr>
            <a:xfrm>
              <a:off x="0" y="0"/>
              <a:ext cx="6437400" cy="640200"/>
            </a:xfrm>
            <a:custGeom>
              <a:avLst/>
              <a:gdLst/>
              <a:ahLst/>
              <a:cxnLst/>
              <a:rect l="l" t="t" r="r" b="b"/>
              <a:pathLst>
                <a:path w="6437400" h="6402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45925" b="-14592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68" name="Google Shape;368;p5"/>
            <p:cNvSpPr txBox="1"/>
            <p:nvPr/>
          </p:nvSpPr>
          <p:spPr>
            <a:xfrm>
              <a:off x="0" y="-47625"/>
              <a:ext cx="6437401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Confianza del cliente</a:t>
              </a:r>
              <a:endParaRPr sz="195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69" name="Google Shape;369;p5"/>
          <p:cNvGrpSpPr/>
          <p:nvPr/>
        </p:nvGrpSpPr>
        <p:grpSpPr>
          <a:xfrm>
            <a:off x="12385548" y="8352473"/>
            <a:ext cx="4828051" cy="700088"/>
            <a:chOff x="0" y="-19050"/>
            <a:chExt cx="6437401" cy="933450"/>
          </a:xfrm>
        </p:grpSpPr>
        <p:sp>
          <p:nvSpPr>
            <p:cNvPr id="370" name="Google Shape;370;p5"/>
            <p:cNvSpPr/>
            <p:nvPr/>
          </p:nvSpPr>
          <p:spPr>
            <a:xfrm>
              <a:off x="0" y="0"/>
              <a:ext cx="6437400" cy="914400"/>
            </a:xfrm>
            <a:custGeom>
              <a:avLst/>
              <a:gdLst/>
              <a:ahLst/>
              <a:cxnLst/>
              <a:rect l="l" t="t" r="r" b="b"/>
              <a:pathLst>
                <a:path w="6437400" h="914400" extrusionOk="0">
                  <a:moveTo>
                    <a:pt x="0" y="0"/>
                  </a:moveTo>
                  <a:lnTo>
                    <a:pt x="6437400" y="0"/>
                  </a:lnTo>
                  <a:lnTo>
                    <a:pt x="6437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87174" b="-8717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71" name="Google Shape;371;p5"/>
            <p:cNvSpPr txBox="1"/>
            <p:nvPr/>
          </p:nvSpPr>
          <p:spPr>
            <a:xfrm>
              <a:off x="0" y="-19050"/>
              <a:ext cx="6437401" cy="933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Registro inmutable de constantes de salud y calificación transparente post-servicio.</a:t>
              </a:r>
              <a:endParaRPr sz="15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75">
                <a:solidFill>
                  <a:srgbClr val="5B667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81" name="Google Shape;381;p6"/>
          <p:cNvGrpSpPr/>
          <p:nvPr/>
        </p:nvGrpSpPr>
        <p:grpSpPr>
          <a:xfrm>
            <a:off x="822960" y="540353"/>
            <a:ext cx="13716000" cy="515869"/>
            <a:chOff x="0" y="-47625"/>
            <a:chExt cx="18288000" cy="687825"/>
          </a:xfrm>
        </p:grpSpPr>
        <p:sp>
          <p:nvSpPr>
            <p:cNvPr id="382" name="Google Shape;382;p6"/>
            <p:cNvSpPr/>
            <p:nvPr/>
          </p:nvSpPr>
          <p:spPr>
            <a:xfrm>
              <a:off x="0" y="0"/>
              <a:ext cx="18288000" cy="640200"/>
            </a:xfrm>
            <a:custGeom>
              <a:avLst/>
              <a:gdLst/>
              <a:ahLst/>
              <a:cxnLst/>
              <a:rect l="l" t="t" r="r" b="b"/>
              <a:pathLst>
                <a:path w="18288000" h="640200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506612" b="-50660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83" name="Google Shape;383;p6"/>
            <p:cNvSpPr txBox="1"/>
            <p:nvPr/>
          </p:nvSpPr>
          <p:spPr>
            <a:xfrm>
              <a:off x="0" y="-47625"/>
              <a:ext cx="18288000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39A9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DELIMITACIÓN</a:t>
              </a:r>
              <a:endParaRPr sz="1950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84" name="Google Shape;384;p6"/>
          <p:cNvGrpSpPr/>
          <p:nvPr/>
        </p:nvGrpSpPr>
        <p:grpSpPr>
          <a:xfrm>
            <a:off x="822960" y="987552"/>
            <a:ext cx="16184700" cy="1165951"/>
            <a:chOff x="0" y="0"/>
            <a:chExt cx="21579601" cy="1554600"/>
          </a:xfrm>
        </p:grpSpPr>
        <p:sp>
          <p:nvSpPr>
            <p:cNvPr id="385" name="Google Shape;385;p6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 extrusionOk="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20475" b="-22047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86" name="Google Shape;386;p6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>
                  <a:solidFill>
                    <a:srgbClr val="38AA00"/>
                  </a:solidFill>
                  <a:latin typeface="Work Sans"/>
                  <a:ea typeface="Work Sans"/>
                  <a:cs typeface="Work Sans"/>
                  <a:sym typeface="Work Sans"/>
                </a:rPr>
                <a:t>Alcance del proyecto</a:t>
              </a:r>
              <a:endParaRPr sz="5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87" name="Google Shape;387;p6"/>
          <p:cNvSpPr/>
          <p:nvPr/>
        </p:nvSpPr>
        <p:spPr>
          <a:xfrm>
            <a:off x="822960" y="2468880"/>
            <a:ext cx="5075111" cy="6720744"/>
          </a:xfrm>
          <a:custGeom>
            <a:avLst/>
            <a:gdLst/>
            <a:ahLst/>
            <a:cxnLst/>
            <a:rect l="l" t="t" r="r" b="b"/>
            <a:pathLst>
              <a:path w="6766814" h="8960993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620510" y="0"/>
                </a:lnTo>
                <a:cubicBezTo>
                  <a:pt x="6701282" y="0"/>
                  <a:pt x="6766814" y="65532"/>
                  <a:pt x="6766814" y="146304"/>
                </a:cubicBezTo>
                <a:lnTo>
                  <a:pt x="6766814" y="8814689"/>
                </a:lnTo>
                <a:cubicBezTo>
                  <a:pt x="6766814" y="8895461"/>
                  <a:pt x="6701282" y="8960993"/>
                  <a:pt x="6620510" y="8960993"/>
                </a:cubicBezTo>
                <a:lnTo>
                  <a:pt x="146304" y="8960993"/>
                </a:lnTo>
                <a:cubicBezTo>
                  <a:pt x="65532" y="8960993"/>
                  <a:pt x="0" y="8895461"/>
                  <a:pt x="0" y="8814689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1303020" y="288036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1097280" h="1097280" extrusionOk="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789"/>
                  <a:pt x="0" y="54864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9" name="Google Shape;389;p6" descr="icons/users.png"/>
          <p:cNvSpPr/>
          <p:nvPr/>
        </p:nvSpPr>
        <p:spPr>
          <a:xfrm>
            <a:off x="1516990" y="3094330"/>
            <a:ext cx="395002" cy="395002"/>
          </a:xfrm>
          <a:custGeom>
            <a:avLst/>
            <a:gdLst/>
            <a:ahLst/>
            <a:cxnLst/>
            <a:rect l="l" t="t" r="r" b="b"/>
            <a:pathLst>
              <a:path w="526669" h="526669" extrusionOk="0">
                <a:moveTo>
                  <a:pt x="0" y="0"/>
                </a:moveTo>
                <a:lnTo>
                  <a:pt x="526669" y="0"/>
                </a:lnTo>
                <a:lnTo>
                  <a:pt x="526669" y="526669"/>
                </a:lnTo>
                <a:lnTo>
                  <a:pt x="0" y="52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-4" b="-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90" name="Google Shape;390;p6"/>
          <p:cNvGrpSpPr/>
          <p:nvPr/>
        </p:nvGrpSpPr>
        <p:grpSpPr>
          <a:xfrm>
            <a:off x="2331720" y="2961513"/>
            <a:ext cx="3291754" cy="645976"/>
            <a:chOff x="0" y="-38100"/>
            <a:chExt cx="4389006" cy="861301"/>
          </a:xfrm>
        </p:grpSpPr>
        <p:sp>
          <p:nvSpPr>
            <p:cNvPr id="391" name="Google Shape;391;p6"/>
            <p:cNvSpPr/>
            <p:nvPr/>
          </p:nvSpPr>
          <p:spPr>
            <a:xfrm>
              <a:off x="0" y="0"/>
              <a:ext cx="4389000" cy="823200"/>
            </a:xfrm>
            <a:custGeom>
              <a:avLst/>
              <a:gdLst/>
              <a:ahLst/>
              <a:cxnLst/>
              <a:rect l="l" t="t" r="r" b="b"/>
              <a:pathLst>
                <a:path w="4389000" h="823200" extrusionOk="0">
                  <a:moveTo>
                    <a:pt x="0" y="0"/>
                  </a:moveTo>
                  <a:lnTo>
                    <a:pt x="4389000" y="0"/>
                  </a:lnTo>
                  <a:lnTo>
                    <a:pt x="4389000" y="823200"/>
                  </a:lnTo>
                  <a:lnTo>
                    <a:pt x="0" y="823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53885" b="-5388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92" name="Google Shape;392;p6"/>
            <p:cNvSpPr txBox="1"/>
            <p:nvPr/>
          </p:nvSpPr>
          <p:spPr>
            <a:xfrm>
              <a:off x="0" y="-38100"/>
              <a:ext cx="4389006" cy="861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Cliente</a:t>
              </a:r>
              <a:endParaRPr sz="24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93" name="Google Shape;393;p6"/>
          <p:cNvSpPr txBox="1"/>
          <p:nvPr/>
        </p:nvSpPr>
        <p:spPr>
          <a:xfrm>
            <a:off x="1303020" y="3870960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Autenticación segura mediante correo, clave y número RETHUS.</a:t>
            </a:r>
            <a:endParaRPr sz="1725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4" name="Google Shape;394;p6"/>
          <p:cNvSpPr txBox="1"/>
          <p:nvPr/>
        </p:nvSpPr>
        <p:spPr>
          <a:xfrm>
            <a:off x="1303020" y="4803648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Alta de pacientes dependientes bajo su custodia profesional.</a:t>
            </a:r>
            <a:endParaRPr sz="1725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5" name="Google Shape;395;p6"/>
          <p:cNvSpPr txBox="1"/>
          <p:nvPr/>
        </p:nvSpPr>
        <p:spPr>
          <a:xfrm>
            <a:off x="1303020" y="5736336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Programación de atenciones domiciliarias en el Calendario.</a:t>
            </a:r>
            <a:endParaRPr sz="1725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6" name="Google Shape;396;p6"/>
          <p:cNvSpPr txBox="1"/>
          <p:nvPr/>
        </p:nvSpPr>
        <p:spPr>
          <a:xfrm>
            <a:off x="1303020" y="6669024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Registro de constantes de salud (presión, temperatura, SpO2).</a:t>
            </a:r>
            <a:endParaRPr sz="1725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7" name="Google Shape;397;p6"/>
          <p:cNvSpPr txBox="1"/>
          <p:nvPr/>
        </p:nvSpPr>
        <p:spPr>
          <a:xfrm>
            <a:off x="1303020" y="7601712"/>
            <a:ext cx="4183199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Dosificación de medicamentos prescritos.</a:t>
            </a:r>
            <a:endParaRPr sz="1725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6240780" y="2468880"/>
            <a:ext cx="5075111" cy="6720744"/>
          </a:xfrm>
          <a:custGeom>
            <a:avLst/>
            <a:gdLst/>
            <a:ahLst/>
            <a:cxnLst/>
            <a:rect l="l" t="t" r="r" b="b"/>
            <a:pathLst>
              <a:path w="6766814" h="8960993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6620510" y="0"/>
                </a:lnTo>
                <a:cubicBezTo>
                  <a:pt x="6701282" y="0"/>
                  <a:pt x="6766814" y="65532"/>
                  <a:pt x="6766814" y="146304"/>
                </a:cubicBezTo>
                <a:lnTo>
                  <a:pt x="6766814" y="8814689"/>
                </a:lnTo>
                <a:cubicBezTo>
                  <a:pt x="6766814" y="8895461"/>
                  <a:pt x="6701282" y="8960993"/>
                  <a:pt x="6620510" y="8960993"/>
                </a:cubicBezTo>
                <a:lnTo>
                  <a:pt x="146304" y="8960993"/>
                </a:lnTo>
                <a:cubicBezTo>
                  <a:pt x="65532" y="8960993"/>
                  <a:pt x="0" y="8895461"/>
                  <a:pt x="0" y="8814689"/>
                </a:cubicBezTo>
                <a:close/>
              </a:path>
            </a:pathLst>
          </a:custGeom>
          <a:solidFill>
            <a:srgbClr val="EDF6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6720840" y="288036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1097280" h="1097280" extrusionOk="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789"/>
                  <a:pt x="0" y="54864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0" name="Google Shape;400;p6" descr="icons/cogs.png"/>
          <p:cNvSpPr/>
          <p:nvPr/>
        </p:nvSpPr>
        <p:spPr>
          <a:xfrm>
            <a:off x="6934810" y="3094330"/>
            <a:ext cx="395002" cy="395002"/>
          </a:xfrm>
          <a:custGeom>
            <a:avLst/>
            <a:gdLst/>
            <a:ahLst/>
            <a:cxnLst/>
            <a:rect l="l" t="t" r="r" b="b"/>
            <a:pathLst>
              <a:path w="526669" h="526669" extrusionOk="0">
                <a:moveTo>
                  <a:pt x="0" y="0"/>
                </a:moveTo>
                <a:lnTo>
                  <a:pt x="526669" y="0"/>
                </a:lnTo>
                <a:lnTo>
                  <a:pt x="526669" y="526669"/>
                </a:lnTo>
                <a:lnTo>
                  <a:pt x="0" y="52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r="-4" b="-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01" name="Google Shape;401;p6"/>
          <p:cNvGrpSpPr/>
          <p:nvPr/>
        </p:nvGrpSpPr>
        <p:grpSpPr>
          <a:xfrm>
            <a:off x="7749540" y="2961513"/>
            <a:ext cx="3429000" cy="645976"/>
            <a:chOff x="0" y="-38100"/>
            <a:chExt cx="4572000" cy="861301"/>
          </a:xfrm>
        </p:grpSpPr>
        <p:sp>
          <p:nvSpPr>
            <p:cNvPr id="402" name="Google Shape;402;p6"/>
            <p:cNvSpPr/>
            <p:nvPr/>
          </p:nvSpPr>
          <p:spPr>
            <a:xfrm>
              <a:off x="0" y="0"/>
              <a:ext cx="4572000" cy="823200"/>
            </a:xfrm>
            <a:custGeom>
              <a:avLst/>
              <a:gdLst/>
              <a:ahLst/>
              <a:cxnLst/>
              <a:rect l="l" t="t" r="r" b="b"/>
              <a:pathLst>
                <a:path w="4572000" h="823200" extrusionOk="0">
                  <a:moveTo>
                    <a:pt x="0" y="0"/>
                  </a:moveTo>
                  <a:lnTo>
                    <a:pt x="4572000" y="0"/>
                  </a:lnTo>
                  <a:lnTo>
                    <a:pt x="4572000" y="823200"/>
                  </a:lnTo>
                  <a:lnTo>
                    <a:pt x="0" y="823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58216" b="-5821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03" name="Google Shape;403;p6"/>
            <p:cNvSpPr txBox="1"/>
            <p:nvPr/>
          </p:nvSpPr>
          <p:spPr>
            <a:xfrm>
              <a:off x="0" y="-38100"/>
              <a:ext cx="4572000" cy="861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Administrador</a:t>
              </a:r>
              <a:endParaRPr sz="24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04" name="Google Shape;404;p6"/>
          <p:cNvSpPr txBox="1"/>
          <p:nvPr/>
        </p:nvSpPr>
        <p:spPr>
          <a:xfrm>
            <a:off x="6720840" y="3870960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Auditoría general de cuentas de usuario y roles del sistema.</a:t>
            </a:r>
            <a:endParaRPr sz="1725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2229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5" name="Google Shape;405;p6"/>
          <p:cNvSpPr txBox="1"/>
          <p:nvPr/>
        </p:nvSpPr>
        <p:spPr>
          <a:xfrm>
            <a:off x="6720840" y="4803648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Mantenimiento de tablas maestras (usuarios, medicamentos, servicios).</a:t>
            </a:r>
            <a:endParaRPr sz="1725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6" name="Google Shape;406;p6"/>
          <p:cNvSpPr txBox="1"/>
          <p:nvPr/>
        </p:nvSpPr>
        <p:spPr>
          <a:xfrm>
            <a:off x="6720840" y="5736336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Visualización de reportes operativos y métricas de desempeño.</a:t>
            </a:r>
            <a:endParaRPr sz="1725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7" name="Google Shape;407;p6"/>
          <p:cNvSpPr txBox="1"/>
          <p:nvPr/>
        </p:nvSpPr>
        <p:spPr>
          <a:xfrm>
            <a:off x="6720840" y="6669024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Monitoreo de logs de seguridad y trazabilidad de accesos.</a:t>
            </a:r>
            <a:endParaRPr sz="1725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8" name="Google Shape;408;p6"/>
          <p:cNvSpPr txBox="1"/>
          <p:nvPr/>
        </p:nvSpPr>
        <p:spPr>
          <a:xfrm>
            <a:off x="6720840" y="7601712"/>
            <a:ext cx="4183199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39A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Control de parámetros de comunicación y notificaciones.</a:t>
            </a:r>
            <a:endParaRPr sz="1725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2229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11658600" y="2468880"/>
            <a:ext cx="5897689" cy="6720744"/>
          </a:xfrm>
          <a:custGeom>
            <a:avLst/>
            <a:gdLst/>
            <a:ahLst/>
            <a:cxnLst/>
            <a:rect l="l" t="t" r="r" b="b"/>
            <a:pathLst>
              <a:path w="7863586" h="8960993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7717282" y="0"/>
                </a:lnTo>
                <a:cubicBezTo>
                  <a:pt x="7798053" y="0"/>
                  <a:pt x="7863586" y="65532"/>
                  <a:pt x="7863586" y="146304"/>
                </a:cubicBezTo>
                <a:lnTo>
                  <a:pt x="7863586" y="8814689"/>
                </a:lnTo>
                <a:cubicBezTo>
                  <a:pt x="7863586" y="8895461"/>
                  <a:pt x="7798053" y="8960993"/>
                  <a:pt x="7717282" y="8960993"/>
                </a:cubicBezTo>
                <a:lnTo>
                  <a:pt x="146304" y="8960993"/>
                </a:lnTo>
                <a:cubicBezTo>
                  <a:pt x="65532" y="8960993"/>
                  <a:pt x="0" y="8895461"/>
                  <a:pt x="0" y="8814689"/>
                </a:cubicBezTo>
                <a:close/>
              </a:path>
            </a:pathLst>
          </a:custGeom>
          <a:solidFill>
            <a:srgbClr val="00304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0" name="Google Shape;410;p6"/>
          <p:cNvSpPr/>
          <p:nvPr/>
        </p:nvSpPr>
        <p:spPr>
          <a:xfrm>
            <a:off x="12138660" y="288036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1097280" h="1097280" extrusionOk="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789"/>
                  <a:pt x="0" y="548640"/>
                </a:cubicBezTo>
                <a:close/>
              </a:path>
            </a:pathLst>
          </a:custGeom>
          <a:solidFill>
            <a:srgbClr val="FDC3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1" name="Google Shape;411;p6" descr="icons/cloud.png"/>
          <p:cNvSpPr/>
          <p:nvPr/>
        </p:nvSpPr>
        <p:spPr>
          <a:xfrm>
            <a:off x="12352630" y="3094330"/>
            <a:ext cx="395002" cy="395002"/>
          </a:xfrm>
          <a:custGeom>
            <a:avLst/>
            <a:gdLst/>
            <a:ahLst/>
            <a:cxnLst/>
            <a:rect l="l" t="t" r="r" b="b"/>
            <a:pathLst>
              <a:path w="526669" h="526669" extrusionOk="0">
                <a:moveTo>
                  <a:pt x="0" y="0"/>
                </a:moveTo>
                <a:lnTo>
                  <a:pt x="526669" y="0"/>
                </a:lnTo>
                <a:lnTo>
                  <a:pt x="526669" y="526669"/>
                </a:lnTo>
                <a:lnTo>
                  <a:pt x="0" y="52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r="-4" b="-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12" name="Google Shape;412;p6"/>
          <p:cNvGrpSpPr/>
          <p:nvPr/>
        </p:nvGrpSpPr>
        <p:grpSpPr>
          <a:xfrm>
            <a:off x="13167360" y="2947225"/>
            <a:ext cx="4114800" cy="660264"/>
            <a:chOff x="0" y="-57150"/>
            <a:chExt cx="5486400" cy="880351"/>
          </a:xfrm>
        </p:grpSpPr>
        <p:sp>
          <p:nvSpPr>
            <p:cNvPr id="413" name="Google Shape;413;p6"/>
            <p:cNvSpPr/>
            <p:nvPr/>
          </p:nvSpPr>
          <p:spPr>
            <a:xfrm>
              <a:off x="0" y="0"/>
              <a:ext cx="5486400" cy="823200"/>
            </a:xfrm>
            <a:custGeom>
              <a:avLst/>
              <a:gdLst/>
              <a:ahLst/>
              <a:cxnLst/>
              <a:rect l="l" t="t" r="r" b="b"/>
              <a:pathLst>
                <a:path w="5486400" h="82320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823200"/>
                  </a:lnTo>
                  <a:lnTo>
                    <a:pt x="0" y="823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79863" b="-7986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14" name="Google Shape;414;p6"/>
            <p:cNvSpPr txBox="1"/>
            <p:nvPr/>
          </p:nvSpPr>
          <p:spPr>
            <a:xfrm>
              <a:off x="0" y="-57150"/>
              <a:ext cx="5486400" cy="880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1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Alcance tecnológico</a:t>
              </a:r>
              <a:endParaRPr sz="22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15" name="Google Shape;415;p6"/>
          <p:cNvSpPr txBox="1"/>
          <p:nvPr/>
        </p:nvSpPr>
        <p:spPr>
          <a:xfrm>
            <a:off x="12138660" y="3870960"/>
            <a:ext cx="5143500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 </a:t>
            </a:r>
            <a:r>
              <a:rPr lang="en-US" sz="1725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Aplicación web adaptable (responsive) con tipografía Work Sans SENA.</a:t>
            </a:r>
            <a:endParaRPr sz="1725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E4EEF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6" name="Google Shape;416;p6"/>
          <p:cNvSpPr txBox="1"/>
          <p:nvPr/>
        </p:nvSpPr>
        <p:spPr>
          <a:xfrm>
            <a:off x="12138660" y="4803648"/>
            <a:ext cx="5143500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</a:t>
            </a:r>
            <a:r>
              <a:rPr lang="en-US" sz="1725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lang="en-US" sz="1725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Arquitectura de 3 capas: Cliente Java + Servlets REST + MySQL 3NF.</a:t>
            </a:r>
            <a:endParaRPr sz="1725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E4EEF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7" name="Google Shape;417;p6"/>
          <p:cNvSpPr txBox="1"/>
          <p:nvPr/>
        </p:nvSpPr>
        <p:spPr>
          <a:xfrm>
            <a:off x="12138660" y="5736336"/>
            <a:ext cx="5143500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r>
              <a:rPr lang="en-US" sz="1725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Integración síncrona con la API pública de RETHUS.</a:t>
            </a:r>
            <a:endParaRPr sz="1725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E4EEF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8" name="Google Shape;418;p6"/>
          <p:cNvSpPr txBox="1"/>
          <p:nvPr/>
        </p:nvSpPr>
        <p:spPr>
          <a:xfrm>
            <a:off x="12138660" y="6669024"/>
            <a:ext cx="5143500" cy="79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r>
              <a:rPr lang="en-US" sz="1725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Enfoque de seguridad: BCrypt, Tokens CSRF e inmutabilidad.</a:t>
            </a:r>
            <a:endParaRPr sz="1725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E4EEF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9" name="Google Shape;419;p6"/>
          <p:cNvSpPr txBox="1"/>
          <p:nvPr/>
        </p:nvSpPr>
        <p:spPr>
          <a:xfrm>
            <a:off x="12138660" y="7601712"/>
            <a:ext cx="5143500" cy="10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 panose="020F0502020204030204"/>
              <a:buNone/>
            </a:pPr>
            <a:r>
              <a:rPr lang="en-US" sz="1725" b="1">
                <a:solidFill>
                  <a:srgbClr val="FFFF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r>
              <a:rPr lang="en-US" sz="1725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Exclusiones: No realiza diagnósticos complejos ni urgencias vitales.</a:t>
            </a:r>
            <a:endParaRPr sz="1725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 panose="020F0502020204030204"/>
              <a:buNone/>
            </a:pPr>
            <a:endParaRPr sz="1725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25">
              <a:solidFill>
                <a:srgbClr val="E4EEF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29" name="Google Shape;429;p7"/>
          <p:cNvGrpSpPr/>
          <p:nvPr/>
        </p:nvGrpSpPr>
        <p:grpSpPr>
          <a:xfrm>
            <a:off x="822960" y="987552"/>
            <a:ext cx="16184700" cy="1165951"/>
            <a:chOff x="0" y="0"/>
            <a:chExt cx="21579601" cy="1554600"/>
          </a:xfrm>
        </p:grpSpPr>
        <p:sp>
          <p:nvSpPr>
            <p:cNvPr id="430" name="Google Shape;430;p7"/>
            <p:cNvSpPr/>
            <p:nvPr/>
          </p:nvSpPr>
          <p:spPr>
            <a:xfrm>
              <a:off x="0" y="0"/>
              <a:ext cx="21579601" cy="1554600"/>
            </a:xfrm>
            <a:custGeom>
              <a:avLst/>
              <a:gdLst/>
              <a:ahLst/>
              <a:cxnLst/>
              <a:rect l="l" t="t" r="r" b="b"/>
              <a:pathLst>
                <a:path w="21579601" h="1554600" extrusionOk="0">
                  <a:moveTo>
                    <a:pt x="0" y="0"/>
                  </a:moveTo>
                  <a:lnTo>
                    <a:pt x="21579601" y="0"/>
                  </a:lnTo>
                  <a:lnTo>
                    <a:pt x="21579601" y="1554600"/>
                  </a:lnTo>
                  <a:lnTo>
                    <a:pt x="0" y="1554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20475" b="-22047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1" name="Google Shape;431;p7"/>
            <p:cNvSpPr txBox="1"/>
            <p:nvPr/>
          </p:nvSpPr>
          <p:spPr>
            <a:xfrm>
              <a:off x="0" y="0"/>
              <a:ext cx="21579599" cy="1554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>
                  <a:solidFill>
                    <a:srgbClr val="38AA00"/>
                  </a:solidFill>
                  <a:latin typeface="Work Sans"/>
                  <a:ea typeface="Work Sans"/>
                  <a:cs typeface="Work Sans"/>
                  <a:sym typeface="Work Sans"/>
                </a:rPr>
                <a:t>Conclusiones</a:t>
              </a:r>
              <a:endParaRPr sz="5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432" name="Google Shape;432;p7"/>
          <p:cNvSpPr/>
          <p:nvPr/>
        </p:nvSpPr>
        <p:spPr>
          <a:xfrm>
            <a:off x="9144000" y="5074920"/>
            <a:ext cx="7715250" cy="2125789"/>
          </a:xfrm>
          <a:custGeom>
            <a:avLst/>
            <a:gdLst/>
            <a:ahLst/>
            <a:cxnLst/>
            <a:rect l="l" t="t" r="r" b="b"/>
            <a:pathLst>
              <a:path w="10287000" h="2834386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140696" y="0"/>
                </a:lnTo>
                <a:cubicBezTo>
                  <a:pt x="10221468" y="0"/>
                  <a:pt x="10287000" y="65532"/>
                  <a:pt x="10287000" y="146304"/>
                </a:cubicBezTo>
                <a:lnTo>
                  <a:pt x="10287000" y="2688082"/>
                </a:lnTo>
                <a:cubicBezTo>
                  <a:pt x="10287000" y="2768854"/>
                  <a:pt x="10221468" y="2834386"/>
                  <a:pt x="10140696" y="2834386"/>
                </a:cubicBezTo>
                <a:lnTo>
                  <a:pt x="146304" y="2834386"/>
                </a:lnTo>
                <a:cubicBezTo>
                  <a:pt x="65532" y="2834386"/>
                  <a:pt x="0" y="2768854"/>
                  <a:pt x="0" y="2688082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9418320" y="5692140"/>
            <a:ext cx="891539" cy="891539"/>
          </a:xfrm>
          <a:custGeom>
            <a:avLst/>
            <a:gdLst/>
            <a:ahLst/>
            <a:cxnLst/>
            <a:rect l="l" t="t" r="r" b="b"/>
            <a:pathLst>
              <a:path w="1188720" h="1188720" extrusionOk="0">
                <a:moveTo>
                  <a:pt x="0" y="594360"/>
                </a:moveTo>
                <a:cubicBezTo>
                  <a:pt x="0" y="266065"/>
                  <a:pt x="266065" y="0"/>
                  <a:pt x="594360" y="0"/>
                </a:cubicBezTo>
                <a:cubicBezTo>
                  <a:pt x="922655" y="0"/>
                  <a:pt x="1188720" y="266065"/>
                  <a:pt x="1188720" y="594360"/>
                </a:cubicBezTo>
                <a:cubicBezTo>
                  <a:pt x="1188720" y="922655"/>
                  <a:pt x="922655" y="1188720"/>
                  <a:pt x="594360" y="1188720"/>
                </a:cubicBezTo>
                <a:cubicBezTo>
                  <a:pt x="266065" y="1188720"/>
                  <a:pt x="0" y="922528"/>
                  <a:pt x="0" y="59436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4" name="Google Shape;434;p7" descr="icons/check.png"/>
          <p:cNvSpPr/>
          <p:nvPr/>
        </p:nvSpPr>
        <p:spPr>
          <a:xfrm>
            <a:off x="9650120" y="5923940"/>
            <a:ext cx="427958" cy="427958"/>
          </a:xfrm>
          <a:custGeom>
            <a:avLst/>
            <a:gdLst/>
            <a:ahLst/>
            <a:cxnLst/>
            <a:rect l="l" t="t" r="r" b="b"/>
            <a:pathLst>
              <a:path w="570611" h="570611" extrusionOk="0">
                <a:moveTo>
                  <a:pt x="0" y="0"/>
                </a:moveTo>
                <a:lnTo>
                  <a:pt x="570611" y="0"/>
                </a:lnTo>
                <a:lnTo>
                  <a:pt x="570611" y="570611"/>
                </a:lnTo>
                <a:lnTo>
                  <a:pt x="0" y="570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4" b="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35" name="Google Shape;435;p7"/>
          <p:cNvGrpSpPr/>
          <p:nvPr/>
        </p:nvGrpSpPr>
        <p:grpSpPr>
          <a:xfrm>
            <a:off x="10584180" y="5286089"/>
            <a:ext cx="6069150" cy="515869"/>
            <a:chOff x="0" y="-47625"/>
            <a:chExt cx="8092200" cy="687825"/>
          </a:xfrm>
        </p:grpSpPr>
        <p:sp>
          <p:nvSpPr>
            <p:cNvPr id="436" name="Google Shape;436;p7"/>
            <p:cNvSpPr/>
            <p:nvPr/>
          </p:nvSpPr>
          <p:spPr>
            <a:xfrm>
              <a:off x="0" y="0"/>
              <a:ext cx="8092200" cy="640200"/>
            </a:xfrm>
            <a:custGeom>
              <a:avLst/>
              <a:gdLst/>
              <a:ahLst/>
              <a:cxnLst/>
              <a:rect l="l" t="t" r="r" b="b"/>
              <a:pathLst>
                <a:path w="8092200" h="640200" extrusionOk="0">
                  <a:moveTo>
                    <a:pt x="0" y="0"/>
                  </a:moveTo>
                  <a:lnTo>
                    <a:pt x="8092200" y="0"/>
                  </a:lnTo>
                  <a:lnTo>
                    <a:pt x="80922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96296" b="-19629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7" name="Google Shape;437;p7"/>
            <p:cNvSpPr txBox="1"/>
            <p:nvPr/>
          </p:nvSpPr>
          <p:spPr>
            <a:xfrm>
              <a:off x="0" y="-47625"/>
              <a:ext cx="8092199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Gestión de pacientes</a:t>
              </a:r>
              <a:endParaRPr sz="21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38" name="Google Shape;438;p7"/>
          <p:cNvGrpSpPr/>
          <p:nvPr/>
        </p:nvGrpSpPr>
        <p:grpSpPr>
          <a:xfrm>
            <a:off x="10584180" y="5698986"/>
            <a:ext cx="6069150" cy="1270069"/>
            <a:chOff x="0" y="-47625"/>
            <a:chExt cx="8092200" cy="1693425"/>
          </a:xfrm>
        </p:grpSpPr>
        <p:sp>
          <p:nvSpPr>
            <p:cNvPr id="439" name="Google Shape;439;p7"/>
            <p:cNvSpPr/>
            <p:nvPr/>
          </p:nvSpPr>
          <p:spPr>
            <a:xfrm>
              <a:off x="0" y="0"/>
              <a:ext cx="8092200" cy="1645794"/>
            </a:xfrm>
            <a:custGeom>
              <a:avLst/>
              <a:gdLst/>
              <a:ahLst/>
              <a:cxnLst/>
              <a:rect l="l" t="t" r="r" b="b"/>
              <a:pathLst>
                <a:path w="8092200" h="1645794" extrusionOk="0">
                  <a:moveTo>
                    <a:pt x="0" y="0"/>
                  </a:moveTo>
                  <a:lnTo>
                    <a:pt x="8092200" y="0"/>
                  </a:lnTo>
                  <a:lnTo>
                    <a:pt x="8092200" y="1645794"/>
                  </a:lnTo>
                  <a:lnTo>
                    <a:pt x="0" y="1645794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45805" b="-4580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0" name="Google Shape;440;p7"/>
            <p:cNvSpPr txBox="1"/>
            <p:nvPr/>
          </p:nvSpPr>
          <p:spPr>
            <a:xfrm>
              <a:off x="0" y="-47625"/>
              <a:ext cx="8092199" cy="1693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Pacientes, sus respectivos tratamientos y medicamentos en un solo lugar</a:t>
              </a:r>
              <a:endParaRPr sz="21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41" name="Google Shape;441;p7"/>
          <p:cNvSpPr/>
          <p:nvPr/>
        </p:nvSpPr>
        <p:spPr>
          <a:xfrm>
            <a:off x="822960" y="2091690"/>
            <a:ext cx="16036290" cy="2582533"/>
          </a:xfrm>
          <a:custGeom>
            <a:avLst/>
            <a:gdLst/>
            <a:ahLst/>
            <a:cxnLst/>
            <a:rect l="l" t="t" r="r" b="b"/>
            <a:pathLst>
              <a:path w="21381720" h="2834386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1235415" y="0"/>
                </a:lnTo>
                <a:cubicBezTo>
                  <a:pt x="21316187" y="0"/>
                  <a:pt x="21381720" y="65532"/>
                  <a:pt x="21381720" y="146304"/>
                </a:cubicBezTo>
                <a:lnTo>
                  <a:pt x="21381720" y="2688082"/>
                </a:lnTo>
                <a:cubicBezTo>
                  <a:pt x="21381720" y="2768854"/>
                  <a:pt x="21316187" y="2834386"/>
                  <a:pt x="21235415" y="2834386"/>
                </a:cubicBezTo>
                <a:lnTo>
                  <a:pt x="146304" y="2834386"/>
                </a:lnTo>
                <a:cubicBezTo>
                  <a:pt x="65532" y="2834386"/>
                  <a:pt x="0" y="2768854"/>
                  <a:pt x="0" y="2688082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1097280" y="3165596"/>
            <a:ext cx="891539" cy="891539"/>
          </a:xfrm>
          <a:custGeom>
            <a:avLst/>
            <a:gdLst/>
            <a:ahLst/>
            <a:cxnLst/>
            <a:rect l="l" t="t" r="r" b="b"/>
            <a:pathLst>
              <a:path w="1188720" h="1188720" extrusionOk="0">
                <a:moveTo>
                  <a:pt x="0" y="594360"/>
                </a:moveTo>
                <a:cubicBezTo>
                  <a:pt x="0" y="266065"/>
                  <a:pt x="266065" y="0"/>
                  <a:pt x="594360" y="0"/>
                </a:cubicBezTo>
                <a:cubicBezTo>
                  <a:pt x="922655" y="0"/>
                  <a:pt x="1188720" y="266065"/>
                  <a:pt x="1188720" y="594360"/>
                </a:cubicBezTo>
                <a:cubicBezTo>
                  <a:pt x="1188720" y="922655"/>
                  <a:pt x="922655" y="1188720"/>
                  <a:pt x="594360" y="1188720"/>
                </a:cubicBezTo>
                <a:cubicBezTo>
                  <a:pt x="266065" y="1188720"/>
                  <a:pt x="0" y="922528"/>
                  <a:pt x="0" y="59436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43" name="Google Shape;443;p7"/>
          <p:cNvGrpSpPr/>
          <p:nvPr/>
        </p:nvGrpSpPr>
        <p:grpSpPr>
          <a:xfrm>
            <a:off x="2263140" y="2247736"/>
            <a:ext cx="6069150" cy="1027679"/>
            <a:chOff x="0" y="-730037"/>
            <a:chExt cx="8092200" cy="1370237"/>
          </a:xfrm>
        </p:grpSpPr>
        <p:sp>
          <p:nvSpPr>
            <p:cNvPr id="444" name="Google Shape;444;p7"/>
            <p:cNvSpPr/>
            <p:nvPr/>
          </p:nvSpPr>
          <p:spPr>
            <a:xfrm>
              <a:off x="0" y="0"/>
              <a:ext cx="8092200" cy="640200"/>
            </a:xfrm>
            <a:custGeom>
              <a:avLst/>
              <a:gdLst/>
              <a:ahLst/>
              <a:cxnLst/>
              <a:rect l="l" t="t" r="r" b="b"/>
              <a:pathLst>
                <a:path w="8092200" h="640200" extrusionOk="0">
                  <a:moveTo>
                    <a:pt x="0" y="0"/>
                  </a:moveTo>
                  <a:lnTo>
                    <a:pt x="8092200" y="0"/>
                  </a:lnTo>
                  <a:lnTo>
                    <a:pt x="80922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96296" b="-19629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5" name="Google Shape;445;p7"/>
            <p:cNvSpPr txBox="1"/>
            <p:nvPr/>
          </p:nvSpPr>
          <p:spPr>
            <a:xfrm>
              <a:off x="0" y="-730037"/>
              <a:ext cx="8092199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Creación de aplicación web</a:t>
              </a:r>
              <a:endParaRPr sz="21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46" name="Google Shape;446;p7"/>
          <p:cNvGrpSpPr/>
          <p:nvPr/>
        </p:nvGrpSpPr>
        <p:grpSpPr>
          <a:xfrm>
            <a:off x="2263140" y="2688075"/>
            <a:ext cx="14390370" cy="1849120"/>
            <a:chOff x="0" y="-819574"/>
            <a:chExt cx="19187160" cy="2465493"/>
          </a:xfrm>
        </p:grpSpPr>
        <p:sp>
          <p:nvSpPr>
            <p:cNvPr id="447" name="Google Shape;447;p7"/>
            <p:cNvSpPr/>
            <p:nvPr/>
          </p:nvSpPr>
          <p:spPr>
            <a:xfrm>
              <a:off x="0" y="0"/>
              <a:ext cx="19186920" cy="1645794"/>
            </a:xfrm>
            <a:custGeom>
              <a:avLst/>
              <a:gdLst/>
              <a:ahLst/>
              <a:cxnLst/>
              <a:rect l="l" t="t" r="r" b="b"/>
              <a:pathLst>
                <a:path w="19186920" h="1645794" extrusionOk="0">
                  <a:moveTo>
                    <a:pt x="0" y="0"/>
                  </a:moveTo>
                  <a:lnTo>
                    <a:pt x="19186920" y="0"/>
                  </a:lnTo>
                  <a:lnTo>
                    <a:pt x="19186920" y="1645794"/>
                  </a:lnTo>
                  <a:lnTo>
                    <a:pt x="0" y="1645794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77149" b="-177149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8" name="Google Shape;448;p7"/>
            <p:cNvSpPr txBox="1"/>
            <p:nvPr/>
          </p:nvSpPr>
          <p:spPr>
            <a:xfrm>
              <a:off x="0" y="-819574"/>
              <a:ext cx="19187160" cy="2465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11181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Implementación exitosa de una solución de telesalud domiciliaria bajo el modelo de Operador Único (Enfermera), eliminando la brecha digital para pacientes dependientes.</a:t>
              </a:r>
              <a:endParaRPr sz="2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11181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Erradicación del intrusismo profesional mediante la validación síncrona en tiempo real ante la base de datos nacional del RETHUS.</a:t>
              </a:r>
              <a:endParaRPr sz="2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11181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Cumplimiento riguroso del estándar IEEE 830, modelado UML completo y base de datos relacional normalizada en 3NF</a:t>
              </a:r>
              <a:endParaRPr sz="21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49" name="Google Shape;449;p7"/>
          <p:cNvSpPr/>
          <p:nvPr/>
        </p:nvSpPr>
        <p:spPr>
          <a:xfrm>
            <a:off x="822960" y="5074920"/>
            <a:ext cx="7715250" cy="2125789"/>
          </a:xfrm>
          <a:custGeom>
            <a:avLst/>
            <a:gdLst/>
            <a:ahLst/>
            <a:cxnLst/>
            <a:rect l="l" t="t" r="r" b="b"/>
            <a:pathLst>
              <a:path w="10287000" h="2834386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140696" y="0"/>
                </a:lnTo>
                <a:cubicBezTo>
                  <a:pt x="10221468" y="0"/>
                  <a:pt x="10287000" y="65532"/>
                  <a:pt x="10287000" y="146304"/>
                </a:cubicBezTo>
                <a:lnTo>
                  <a:pt x="10287000" y="2688082"/>
                </a:lnTo>
                <a:cubicBezTo>
                  <a:pt x="10287000" y="2768854"/>
                  <a:pt x="10221468" y="2834386"/>
                  <a:pt x="10140696" y="2834386"/>
                </a:cubicBezTo>
                <a:lnTo>
                  <a:pt x="146304" y="2834386"/>
                </a:lnTo>
                <a:cubicBezTo>
                  <a:pt x="65532" y="2834386"/>
                  <a:pt x="0" y="2768854"/>
                  <a:pt x="0" y="2688082"/>
                </a:cubicBez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1097280" y="5692140"/>
            <a:ext cx="891539" cy="891539"/>
          </a:xfrm>
          <a:custGeom>
            <a:avLst/>
            <a:gdLst/>
            <a:ahLst/>
            <a:cxnLst/>
            <a:rect l="l" t="t" r="r" b="b"/>
            <a:pathLst>
              <a:path w="1188720" h="1188720" extrusionOk="0">
                <a:moveTo>
                  <a:pt x="0" y="594360"/>
                </a:moveTo>
                <a:cubicBezTo>
                  <a:pt x="0" y="266065"/>
                  <a:pt x="266065" y="0"/>
                  <a:pt x="594360" y="0"/>
                </a:cubicBezTo>
                <a:cubicBezTo>
                  <a:pt x="922655" y="0"/>
                  <a:pt x="1188720" y="266065"/>
                  <a:pt x="1188720" y="594360"/>
                </a:cubicBezTo>
                <a:cubicBezTo>
                  <a:pt x="1188720" y="922655"/>
                  <a:pt x="922655" y="1188720"/>
                  <a:pt x="594360" y="1188720"/>
                </a:cubicBezTo>
                <a:cubicBezTo>
                  <a:pt x="266065" y="1188720"/>
                  <a:pt x="0" y="922528"/>
                  <a:pt x="0" y="594360"/>
                </a:cubicBezTo>
                <a:close/>
              </a:path>
            </a:pathLst>
          </a:cu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1" name="Google Shape;451;p7" descr="icons/mobile.png"/>
          <p:cNvSpPr/>
          <p:nvPr/>
        </p:nvSpPr>
        <p:spPr>
          <a:xfrm>
            <a:off x="1329080" y="5923940"/>
            <a:ext cx="427958" cy="427958"/>
          </a:xfrm>
          <a:custGeom>
            <a:avLst/>
            <a:gdLst/>
            <a:ahLst/>
            <a:cxnLst/>
            <a:rect l="l" t="t" r="r" b="b"/>
            <a:pathLst>
              <a:path w="570611" h="570611" extrusionOk="0">
                <a:moveTo>
                  <a:pt x="0" y="0"/>
                </a:moveTo>
                <a:lnTo>
                  <a:pt x="570611" y="0"/>
                </a:lnTo>
                <a:lnTo>
                  <a:pt x="570611" y="570611"/>
                </a:lnTo>
                <a:lnTo>
                  <a:pt x="0" y="570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r="4" b="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52" name="Google Shape;452;p7"/>
          <p:cNvGrpSpPr/>
          <p:nvPr/>
        </p:nvGrpSpPr>
        <p:grpSpPr>
          <a:xfrm>
            <a:off x="2263140" y="5286089"/>
            <a:ext cx="6069150" cy="515869"/>
            <a:chOff x="0" y="-47625"/>
            <a:chExt cx="8092200" cy="687825"/>
          </a:xfrm>
        </p:grpSpPr>
        <p:sp>
          <p:nvSpPr>
            <p:cNvPr id="453" name="Google Shape;453;p7"/>
            <p:cNvSpPr/>
            <p:nvPr/>
          </p:nvSpPr>
          <p:spPr>
            <a:xfrm>
              <a:off x="0" y="0"/>
              <a:ext cx="8092200" cy="640200"/>
            </a:xfrm>
            <a:custGeom>
              <a:avLst/>
              <a:gdLst/>
              <a:ahLst/>
              <a:cxnLst/>
              <a:rect l="l" t="t" r="r" b="b"/>
              <a:pathLst>
                <a:path w="8092200" h="640200" extrusionOk="0">
                  <a:moveTo>
                    <a:pt x="0" y="0"/>
                  </a:moveTo>
                  <a:lnTo>
                    <a:pt x="8092200" y="0"/>
                  </a:lnTo>
                  <a:lnTo>
                    <a:pt x="80922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96296" b="-19629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54" name="Google Shape;454;p7"/>
            <p:cNvSpPr txBox="1"/>
            <p:nvPr/>
          </p:nvSpPr>
          <p:spPr>
            <a:xfrm>
              <a:off x="0" y="-47625"/>
              <a:ext cx="8092199" cy="68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Experiencia de usuario</a:t>
              </a:r>
              <a:endParaRPr sz="2100" b="1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55" name="Google Shape;455;p7"/>
          <p:cNvGrpSpPr/>
          <p:nvPr/>
        </p:nvGrpSpPr>
        <p:grpSpPr>
          <a:xfrm>
            <a:off x="2263140" y="5756710"/>
            <a:ext cx="6069150" cy="1407138"/>
            <a:chOff x="0" y="-47625"/>
            <a:chExt cx="8092200" cy="1876184"/>
          </a:xfrm>
        </p:grpSpPr>
        <p:sp>
          <p:nvSpPr>
            <p:cNvPr id="456" name="Google Shape;456;p7"/>
            <p:cNvSpPr/>
            <p:nvPr/>
          </p:nvSpPr>
          <p:spPr>
            <a:xfrm>
              <a:off x="0" y="0"/>
              <a:ext cx="8092200" cy="1828552"/>
            </a:xfrm>
            <a:custGeom>
              <a:avLst/>
              <a:gdLst/>
              <a:ahLst/>
              <a:cxnLst/>
              <a:rect l="l" t="t" r="r" b="b"/>
              <a:pathLst>
                <a:path w="8092200" h="1828552" extrusionOk="0">
                  <a:moveTo>
                    <a:pt x="0" y="0"/>
                  </a:moveTo>
                  <a:lnTo>
                    <a:pt x="8092200" y="0"/>
                  </a:lnTo>
                  <a:lnTo>
                    <a:pt x="8092200" y="1828552"/>
                  </a:lnTo>
                  <a:lnTo>
                    <a:pt x="0" y="1828552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41226" b="-3123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57" name="Google Shape;457;p7"/>
            <p:cNvSpPr txBox="1"/>
            <p:nvPr/>
          </p:nvSpPr>
          <p:spPr>
            <a:xfrm>
              <a:off x="0" y="-47625"/>
              <a:ext cx="8092199" cy="1876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Interfaz intuitiva y adaptable, con panel administrativo funcional para registrar clientes y agendar citas.</a:t>
              </a:r>
              <a:endParaRPr sz="21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58" name="Google Shape;458;p7"/>
          <p:cNvSpPr/>
          <p:nvPr/>
        </p:nvSpPr>
        <p:spPr>
          <a:xfrm>
            <a:off x="822960" y="7886700"/>
            <a:ext cx="15910656" cy="1371600"/>
          </a:xfrm>
          <a:custGeom>
            <a:avLst/>
            <a:gdLst/>
            <a:ahLst/>
            <a:cxnLst/>
            <a:rect l="l" t="t" r="r" b="b"/>
            <a:pathLst>
              <a:path w="21214207" h="1828800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1067903" y="0"/>
                </a:lnTo>
                <a:cubicBezTo>
                  <a:pt x="21148675" y="0"/>
                  <a:pt x="21214207" y="65532"/>
                  <a:pt x="21214207" y="146304"/>
                </a:cubicBezTo>
                <a:lnTo>
                  <a:pt x="21214207" y="1682496"/>
                </a:lnTo>
                <a:cubicBezTo>
                  <a:pt x="21214207" y="1763268"/>
                  <a:pt x="21148675" y="1828800"/>
                  <a:pt x="21067903" y="1828800"/>
                </a:cubicBezTo>
                <a:lnTo>
                  <a:pt x="146304" y="1828800"/>
                </a:lnTo>
                <a:cubicBezTo>
                  <a:pt x="65532" y="1828800"/>
                  <a:pt x="0" y="1763268"/>
                  <a:pt x="0" y="1682496"/>
                </a:cubicBezTo>
                <a:close/>
              </a:path>
            </a:pathLst>
          </a:custGeom>
          <a:solidFill>
            <a:srgbClr val="FFF3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59" name="Google Shape;459;p7"/>
          <p:cNvGrpSpPr/>
          <p:nvPr/>
        </p:nvGrpSpPr>
        <p:grpSpPr>
          <a:xfrm>
            <a:off x="1234440" y="7858125"/>
            <a:ext cx="15087600" cy="1400175"/>
            <a:chOff x="0" y="-38100"/>
            <a:chExt cx="20116800" cy="1866900"/>
          </a:xfrm>
        </p:grpSpPr>
        <p:sp>
          <p:nvSpPr>
            <p:cNvPr id="460" name="Google Shape;460;p7"/>
            <p:cNvSpPr/>
            <p:nvPr/>
          </p:nvSpPr>
          <p:spPr>
            <a:xfrm>
              <a:off x="0" y="0"/>
              <a:ext cx="20116800" cy="1828800"/>
            </a:xfrm>
            <a:custGeom>
              <a:avLst/>
              <a:gdLst/>
              <a:ahLst/>
              <a:cxnLst/>
              <a:rect l="l" t="t" r="r" b="b"/>
              <a:pathLst>
                <a:path w="20116800" h="1828800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64335" b="-1643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1" name="Google Shape;461;p7"/>
            <p:cNvSpPr txBox="1"/>
            <p:nvPr/>
          </p:nvSpPr>
          <p:spPr>
            <a:xfrm>
              <a:off x="0" y="-38100"/>
              <a:ext cx="201168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 b="1">
                  <a:solidFill>
                    <a:srgbClr val="006D2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Líneas de Trabajo Futuro</a:t>
              </a:r>
              <a:endParaRPr sz="18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11181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Integración con expedientes clínicos de EPS/IPS en Colombia para sincronización de historias clínicas.</a:t>
              </a:r>
              <a:endParaRPr sz="18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11181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Botón de pánico y geolocalización en tiempo real para llamadas de asistencia médica de emergencia.</a:t>
              </a:r>
              <a:endParaRPr sz="1875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11181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Módulo móvil offline con sincronización asíncrona (PWA / SQLite) para atención en zonas rurales sin cobertura de red</a:t>
              </a:r>
              <a:r>
                <a:rPr lang="en-US" sz="1875">
                  <a:solidFill>
                    <a:srgbClr val="00304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sz="1875">
                <a:solidFill>
                  <a:srgbClr val="00304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62" name="Google Shape;462;p7" descr="icons/server.png"/>
          <p:cNvSpPr/>
          <p:nvPr/>
        </p:nvSpPr>
        <p:spPr>
          <a:xfrm>
            <a:off x="1296162" y="3367321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658368" h="658368" extrusionOk="0">
                <a:moveTo>
                  <a:pt x="0" y="0"/>
                </a:move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5083</Words>
  <Application>WPS Presentation</Application>
  <PresentationFormat/>
  <Paragraphs>226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Work Sans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Aprendiz</dc:creator>
  <cp:lastModifiedBy>Juan</cp:lastModifiedBy>
  <cp:revision>1</cp:revision>
  <dcterms:created xsi:type="dcterms:W3CDTF">2026-09-18T06:27:11Z</dcterms:created>
  <dcterms:modified xsi:type="dcterms:W3CDTF">2026-09-18T06:27:14Z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2026-09-17T15:01:58Z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f9c9f001-ed7e-4c8f-94f6-8eb741ccba3e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KSOProductBuildVer">
    <vt:lpwstr>2058-12.1.0.28485</vt:lpwstr>
  </property>
  <property fmtid="{D5CDD505-2E9C-101B-9397-08002B2CF9AE}" pid="11" name="ICV">
    <vt:lpwstr>E362C15C8DBA40D3B751B2240FAB4AA7_13</vt:lpwstr>
  </property>
</Properties>
</file>